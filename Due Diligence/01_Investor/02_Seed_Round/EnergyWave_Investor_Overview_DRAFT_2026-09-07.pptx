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8FA3B8"/>
                </a:solidFill>
                <a:latin typeface="Calibri"/>
              </a:defRPr>
            </a:pPr>
            <a:r>
              <a:rPr sz="1000" b="0" i="0" u="none" strike="noStrike">
                <a:solidFill>
                  <a:srgbClr val="8FA3B8"/>
                </a:solidFill>
                <a:latin typeface="Calibri"/>
              </a:rPr>
              <a:t>Gravimetric energy density, Wh/kg (log scale)</a:t>
            </a:r>
          </a:p>
        </c:rich>
      </c:tx>
      <c:layout/>
      <c:overlay val="0"/>
    </c:title>
    <c:autoTitleDeleted val="0"/>
    <c:plotArea>
      <c:layout/>
      <c:barChart>
        <c:barDir val="bar"/>
        <c:grouping val="clustered"/>
        <c:varyColors val="0"/>
        <c:ser>
          <c:idx val="0"/>
          <c:order val="0"/>
          <c:tx>
            <c:strRef>
              <c:f>Sheet1!$B$1</c:f>
              <c:strCache>
                <c:ptCount val="1"/>
                <c:pt idx="0">
                  <c:v>Wh/kg</c:v>
                </c:pt>
              </c:strCache>
            </c:strRef>
          </c:tx>
          <c:spPr>
            <a:solidFill>
              <a:srgbClr val="5EEAD4"/>
            </a:solidFill>
            <a:effectLst/>
          </c:spPr>
          <c:invertIfNegative val="0"/>
          <c:dLbls>
            <c:numFmt formatCode="#,##0" sourceLinked="0"/>
            <c:txPr>
              <a:bodyPr/>
              <a:lstStyle/>
              <a:p>
                <a:pPr>
                  <a:defRPr b="0" i="0" strike="noStrike" sz="1000" u="none">
                    <a:solidFill>
                      <a:srgbClr val="E6EDF5"/>
                    </a:solidFill>
                    <a:latin typeface="Arial"/>
                  </a:defRPr>
                </a:pPr>
              </a:p>
            </c:txPr>
            <c:showLegendKey val="0"/>
            <c:showVal val="1"/>
            <c:showCatName val="0"/>
            <c:showSerName val="0"/>
            <c:showPercent val="0"/>
            <c:showBubbleSize val="0"/>
            <c:showLeaderLines val="0"/>
          </c:dLbls>
          <c:cat>
            <c:multiLvlStrRef>
              <c:f>Sheet1!$A$2:$A$4</c:f>
              <c:multiLvlStrCache>
                <c:ptCount val="3"/>
                <c:lvl>
                  <c:pt idx="0">
                    <c:v>Li-ion pack (≈160)</c:v>
                  </c:pt>
                  <c:pt idx="1">
                    <c:v>Li-ion cell (≈250)</c:v>
                  </c:pt>
                  <c:pt idx="2">
                    <c:v>Body fat (≈10,300)</c:v>
                  </c:pt>
                </c:lvl>
              </c:multiLvlStrCache>
            </c:multiLvlStrRef>
          </c:cat>
          <c:val>
            <c:numRef>
              <c:f>Sheet1!$B$2:$B$4</c:f>
              <c:numCache>
                <c:formatCode>General</c:formatCode>
                <c:ptCount val="3"/>
                <c:pt idx="0">
                  <c:v>160</c:v>
                </c:pt>
                <c:pt idx="1">
                  <c:v>250</c:v>
                </c:pt>
                <c:pt idx="2">
                  <c:v>10300</c:v>
                </c:pt>
              </c:numCache>
            </c:numRef>
          </c:val>
        </c:ser>
        <c:dLbls>
          <c:numFmt formatCode="#,##0" sourceLinked="0"/>
          <c:txPr>
            <a:bodyPr/>
            <a:lstStyle/>
            <a:p>
              <a:pPr>
                <a:defRPr b="0" i="0" strike="noStrike" sz="1000" u="none">
                  <a:solidFill>
                    <a:srgbClr val="E6EDF5"/>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E6EDF5"/>
                </a:solidFill>
                <a:latin typeface="Arial"/>
              </a:defRPr>
            </a:pPr>
            <a:endParaRPr lang="en-US"/>
          </a:p>
        </c:txPr>
        <c:crossAx val="2094734552"/>
        <c:crosses val="autoZero"/>
        <c:auto val="1"/>
        <c:lblAlgn val="ctr"/>
        <c:noMultiLvlLbl val="1"/>
      </c:catAx>
      <c:valAx>
        <c:axId val="2094734552"/>
        <c:scaling>
          <c:logBase val="10"/>
          <c:orientation val="minMax"/>
          <c:max val="100000"/>
          <c:min val="100"/>
        </c:scaling>
        <c:delete val="0"/>
        <c:axPos val="b"/>
        <c:majorGridlines>
          <c:spPr>
            <a:ln w="6350" cap="flat">
              <a:solidFill>
                <a:srgbClr val="223049"/>
              </a:solidFill>
              <a:prstDash val="solid"/>
              <a:round/>
            </a:ln>
          </c:spPr>
        </c:majorGridlines>
        <c:numFmt formatCode="#,##0" sourceLinked="0"/>
        <c:majorTickMark val="out"/>
        <c:minorTickMark val="none"/>
        <c:tickLblPos val="low"/>
        <c:spPr>
          <a:ln w="12700" cap="flat">
            <a:noFill/>
            <a:prstDash val="solid"/>
            <a:round/>
          </a:ln>
        </c:spPr>
        <c:txPr>
          <a:bodyPr/>
          <a:lstStyle/>
          <a:p>
            <a:pPr>
              <a:defRPr sz="900" b="0" i="0" u="none" strike="noStrike">
                <a:solidFill>
                  <a:srgbClr val="8F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8FA3B8"/>
                </a:solidFill>
                <a:latin typeface="Calibri"/>
              </a:defRPr>
            </a:pPr>
            <a:r>
              <a:rPr sz="1000" b="0" i="0" u="none" strike="noStrike">
                <a:solidFill>
                  <a:srgbClr val="8FA3B8"/>
                </a:solidFill>
                <a:latin typeface="Calibri"/>
              </a:rPr>
              <a:t>Stated battery pack capacity, kWh (company claims)</a:t>
            </a:r>
          </a:p>
        </c:rich>
      </c:tx>
      <c:layout/>
      <c:overlay val="0"/>
    </c:title>
    <c:autoTitleDeleted val="0"/>
    <c:plotArea>
      <c:layout/>
      <c:barChart>
        <c:barDir val="col"/>
        <c:grouping val="clustered"/>
        <c:varyColors val="0"/>
        <c:ser>
          <c:idx val="0"/>
          <c:order val="0"/>
          <c:tx>
            <c:strRef>
              <c:f>Sheet1!$B$1</c:f>
              <c:strCache>
                <c:ptCount val="1"/>
                <c:pt idx="0">
                  <c:v>Battery pack, kWh</c:v>
                </c:pt>
              </c:strCache>
            </c:strRef>
          </c:tx>
          <c:spPr>
            <a:solidFill>
              <a:srgbClr val="5EEAD4"/>
            </a:solidFill>
            <a:effectLst/>
          </c:spPr>
          <c:invertIfNegative val="0"/>
          <c:dLbls>
            <c:numFmt formatCode="0.00" sourceLinked="0"/>
            <c:txPr>
              <a:bodyPr/>
              <a:lstStyle/>
              <a:p>
                <a:pPr>
                  <a:defRPr b="0" i="0" strike="noStrike" sz="1000" u="none">
                    <a:solidFill>
                      <a:srgbClr val="E6EDF5"/>
                    </a:solidFill>
                    <a:latin typeface="Arial"/>
                  </a:defRPr>
                </a:pPr>
              </a:p>
            </c:txPr>
            <c:showLegendKey val="0"/>
            <c:showVal val="1"/>
            <c:showCatName val="0"/>
            <c:showSerName val="0"/>
            <c:showPercent val="0"/>
            <c:showBubbleSize val="0"/>
            <c:showLeaderLines val="0"/>
          </c:dLbls>
          <c:cat>
            <c:multiLvlStrRef>
              <c:f>Sheet1!$A$2:$A$6</c:f>
              <c:multiLvlStrCache>
                <c:ptCount val="5"/>
                <c:lvl>
                  <c:pt idx="0">
                    <c:v>Tesla Optimus (2022)</c:v>
                  </c:pt>
                  <c:pt idx="1">
                    <c:v>Figure 02 (2024)</c:v>
                  </c:pt>
                  <c:pt idx="2">
                    <c:v>Figure 03 (2025)</c:v>
                  </c:pt>
                  <c:pt idx="3">
                    <c:v>Unitree H1</c:v>
                  </c:pt>
                  <c:pt idx="4">
                    <c:v>Unitree G1</c:v>
                  </c:pt>
                </c:lvl>
              </c:multiLvlStrCache>
            </c:multiLvlStrRef>
          </c:cat>
          <c:val>
            <c:numRef>
              <c:f>Sheet1!$B$2:$B$6</c:f>
              <c:numCache>
                <c:formatCode>General</c:formatCode>
                <c:ptCount val="5"/>
                <c:pt idx="0">
                  <c:v>2.3</c:v>
                </c:pt>
                <c:pt idx="1">
                  <c:v>2.25</c:v>
                </c:pt>
                <c:pt idx="2">
                  <c:v>2.3</c:v>
                </c:pt>
                <c:pt idx="3">
                  <c:v>0.864</c:v>
                </c:pt>
                <c:pt idx="4">
                  <c:v>0.43</c:v>
                </c:pt>
              </c:numCache>
            </c:numRef>
          </c:val>
        </c:ser>
        <c:dLbls>
          <c:numFmt formatCode="0.00" sourceLinked="0"/>
          <c:txPr>
            <a:bodyPr/>
            <a:lstStyle/>
            <a:p>
              <a:pPr>
                <a:defRPr b="0" i="0" strike="noStrike" sz="1000" u="none">
                  <a:solidFill>
                    <a:srgbClr val="E6EDF5"/>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E6EDF5"/>
                </a:solidFill>
                <a:latin typeface="Arial"/>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6350" cap="flat">
              <a:solidFill>
                <a:srgbClr val="22304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F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Tone for the whole deck: restraint. We are asking investors to fund a disciplined attempt to answer a hard scientific question, not to believe the answer. Every number in brackets comes from the financial/diligence workbook — swap before external use. Legal disclaimer language (slide 20) needs K&amp;L Gates review before this deck leaves the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statement is canonical — use it verbatim on the website, in the prospectus and in the data room. The three commitments on the right are the posture that differentiates EnergyWave from every other 'vacuum energy' claim: we assume the mainstream physics prior is probably right and we structure the company to find out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which ratio you quote. Chemical (fat) vs electrical (Li-ion) is ~40x at the cell, ~65x at the pack. On useful work — muscle at 20–25% vs battery-to-motor at 80–90% — the gap is ~10–15x. Both are true; say which one you mean. All figures verified 2026-09-07 (see research/references.md in the data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robot number on this slide is a company claim, dated. Only Figure publishes both kWh and hours (2.3 kWh / 5 h ≈ 460 W average). Tesla's 2.3 kWh figure is from 2022 and may not describe current hardware. The point of the slide is not any one number — it is that the whole category is battery-limited and the founder's thesis (human-grade sensing and actuation) pushes draw up, not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two columns apart in every conversation. The left column is a market truth; the right column is a conditional. Blurring them is how 'vacuum energy' companies lose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citations with DOIs are in the technical prospectus and in research/references.md (data room). Corrections worth knowing: Zhao 2019 is Xiang Zhang's group at Berkeley/LBNL, not Capasso; Banishev 2013 is PRB, not PRL; Moddel's conductance paper is Phys. Rev. Research, and it does not claim energy extraction — only the Symmetry paper reports a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Say it before an investor's physicist friend does. The prior is strong; the program is designed so that if the prior is right we find out at Gate 1 for the price of Tranche A, and the result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whole company is organized around. If a listener can repeat it back, the pitch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is deliberately about the ability to test, not reasons to believe. The third card is the sharpest: there are published, unreplicated claims sitting in the literature, and the field's own proponents concede nothing has been reliably demonstrated. A pre-registered replication is the cheapest high-information experiment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ask 'what do I own if it fails?' Answer honestly: a small, credible nanoscale-measurement group with publications and Casimir-force engineering know-how. Do not oversell that as a business; say it once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Tranche sizes and gate months come from the workbook (Raise Sizing and Milestones sheets). The structure converts 'too early for us' — the Cove Fund objection — into a staged option: an investor underwrites Tranche A and a decision, not a three-year belief.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is deliberately built around replication of an existing claim rather than our own device, because it is the highest-information experiment per dollar: if the published effect is an artifact, we learn that with controls the original lab did not publish; if it is real, we have a platform ready to characterize it. Workstream 1C carries the company's own device concept — specify it from Ian's internal notes before the prospectus goes to a physicist.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Tranche B and Tranche C sit in escrow from the close. Release requires a written gate report, advisory-board certification and publication of the gate results. Investors receive the same report the public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commitments should appear in the investor documents as covenants, not marketing. Counsel to advise on which belong in the charter, the investor rights agreement and the escrow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sheet in the workbook is the source of truth for this slide. Do not present ownership percentages until formation documents exist. McLean Capital Development LLC (Wyoming) appears only if the workbook lists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invented people. Every hire's start month, compensation, benefits, relocation and total cost lives in the workbook's hiring model — bring the sheet, not a summary. The PI hire is a condition of Tranche A: without a named PI the program does not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workbook's forecast puts the gates at different months, change only this slide and slide 11; nothing else in the deck depends on the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this slide comes from the workbook: Raise Sizing, Use of Funds, 36-month forecast, Reserve calculation. ChatGPT's review of the workbook referenced a $25M raise — confirm against the Raise Sizing sheet before replacing the placeholder. Once the workbook is shared, replace the placeholder bars with a native chart of the real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scientific risk. Investors who have seen 'vacuum energy' decks expect it to be hidden; putting it first, with the mitigation being the company's own design, is the strongest credibility move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Disclaimer language is a draft for K&amp;L Gates — do not circulate externally until reviewed. Note for the website: the Investors page stays informational and contact-only pending counsel's guidance on general 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5400" b="1" dirty="0">
                <a:solidFill>
                  <a:srgbClr val="E6EDF5"/>
                </a:solidFill>
                <a:latin typeface="Cambria" pitchFamily="34" charset="0"/>
                <a:ea typeface="Cambria" pitchFamily="34" charset="-122"/>
                <a:cs typeface="Cambria" pitchFamily="34" charset="-120"/>
              </a:rPr>
              <a:t>EnergyWave</a:t>
            </a:r>
            <a:endParaRPr lang="en-US" sz="5400" dirty="0"/>
          </a:p>
        </p:txBody>
      </p:sp>
      <p:sp>
        <p:nvSpPr>
          <p:cNvPr id="3" name="Text 1"/>
          <p:cNvSpPr txBox="1"/>
          <p:nvPr/>
        </p:nvSpPr>
        <p:spPr>
          <a:xfrm>
            <a:off x="640080" y="2194560"/>
            <a:ext cx="6766560" cy="914400"/>
          </a:xfrm>
          <a:prstGeom prst="rect">
            <a:avLst/>
          </a:prstGeom>
          <a:noFill/>
          <a:ln/>
        </p:spPr>
        <p:txBody>
          <a:bodyPr wrap="square" lIns="0" tIns="0" rIns="0" bIns="0" rtlCol="0" anchor="t"/>
          <a:lstStyle/>
          <a:p>
            <a:pPr indent="0" marL="0">
              <a:buNone/>
            </a:pPr>
            <a:r>
              <a:rPr lang="en-US" sz="1700" dirty="0">
                <a:solidFill>
                  <a:srgbClr val="C9D6E3"/>
                </a:solidFill>
                <a:latin typeface="Calibri" pitchFamily="34" charset="0"/>
                <a:ea typeface="Calibri" pitchFamily="34" charset="-122"/>
                <a:cs typeface="Calibri" pitchFamily="34" charset="-120"/>
              </a:rPr>
              <a:t>A disciplined research company investigating whether engineered nanostructures can enable a new approach to electrical power generation.</a:t>
            </a:r>
            <a:endParaRPr lang="en-US" sz="1700" dirty="0"/>
          </a:p>
        </p:txBody>
      </p:sp>
      <p:sp>
        <p:nvSpPr>
          <p:cNvPr id="4" name="Text 2"/>
          <p:cNvSpPr txBox="1"/>
          <p:nvPr/>
        </p:nvSpPr>
        <p:spPr>
          <a:xfrm>
            <a:off x="640080" y="3291840"/>
            <a:ext cx="7315200" cy="27432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INVESTOR OVERVIEW  ·  SEPTEMBER 2026  ·  NEWPORT BEACH, CALIFORNIA</a:t>
            </a:r>
            <a:endParaRPr lang="en-US" sz="950" dirty="0"/>
          </a:p>
        </p:txBody>
      </p:sp>
      <p:sp>
        <p:nvSpPr>
          <p:cNvPr id="5" name="Text 3"/>
          <p:cNvSpPr txBox="1"/>
          <p:nvPr/>
        </p:nvSpPr>
        <p:spPr>
          <a:xfrm>
            <a:off x="640080" y="4343400"/>
            <a:ext cx="7863840" cy="411480"/>
          </a:xfrm>
          <a:prstGeom prst="rect">
            <a:avLst/>
          </a:prstGeom>
          <a:noFill/>
          <a:ln/>
        </p:spPr>
        <p:txBody>
          <a:bodyPr wrap="square" lIns="0" tIns="0" rIns="0" bIns="0" rtlCol="0" anchor="ctr"/>
          <a:lstStyle/>
          <a:p>
            <a:pPr indent="0" marL="0">
              <a:buNone/>
            </a:pPr>
            <a:r>
              <a:rPr lang="en-US" sz="900" dirty="0">
                <a:solidFill>
                  <a:srgbClr val="8FA3B8"/>
                </a:solidFill>
                <a:latin typeface="Calibri" pitchFamily="34" charset="0"/>
                <a:ea typeface="Calibri" pitchFamily="34" charset="-122"/>
                <a:cs typeface="Calibri" pitchFamily="34" charset="-120"/>
              </a:rPr>
              <a:t>Confidential draft for counsel review. Contains no device performance claims. Figures in [brackets] are placeholders pending the financial workbook.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2</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WHAT WE ARE</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In one sentence</a:t>
            </a:r>
            <a:endParaRPr lang="en-US" sz="2400" dirty="0"/>
          </a:p>
        </p:txBody>
      </p:sp>
      <p:sp>
        <p:nvSpPr>
          <p:cNvPr id="6" name="Text 4"/>
          <p:cNvSpPr txBox="1"/>
          <p:nvPr/>
        </p:nvSpPr>
        <p:spPr>
          <a:xfrm>
            <a:off x="457200" y="1234440"/>
            <a:ext cx="4663440" cy="2011680"/>
          </a:xfrm>
          <a:prstGeom prst="rect">
            <a:avLst/>
          </a:prstGeom>
          <a:noFill/>
          <a:ln/>
        </p:spPr>
        <p:txBody>
          <a:bodyPr wrap="square" lIns="0" tIns="0" rIns="0" bIns="0" rtlCol="0" anchor="t"/>
          <a:lstStyle/>
          <a:p>
            <a:pPr indent="0" marL="0">
              <a:lnSpc>
                <a:spcPct val="115000"/>
              </a:lnSpc>
              <a:buNone/>
            </a:pPr>
            <a:r>
              <a:rPr lang="en-US" sz="1700" dirty="0">
                <a:solidFill>
                  <a:srgbClr val="E6EDF5"/>
                </a:solidFill>
                <a:latin typeface="Cambria" pitchFamily="34" charset="0"/>
                <a:ea typeface="Cambria" pitchFamily="34" charset="-122"/>
                <a:cs typeface="Cambria" pitchFamily="34" charset="-120"/>
              </a:rPr>
              <a:t>EnergyWave is an experimental research company investigating whether recent advances in nanofabrication, photonics, metamaterials and quantum engineering can enable a fundamentally new approach to electrical power generation.</a:t>
            </a:r>
            <a:endParaRPr lang="en-US" sz="1700" dirty="0"/>
          </a:p>
        </p:txBody>
      </p:sp>
      <p:sp>
        <p:nvSpPr>
          <p:cNvPr id="7" name="Text 5"/>
          <p:cNvSpPr txBox="1"/>
          <p:nvPr/>
        </p:nvSpPr>
        <p:spPr>
          <a:xfrm>
            <a:off x="457200" y="3429000"/>
            <a:ext cx="4663440" cy="1005840"/>
          </a:xfrm>
          <a:prstGeom prst="rect">
            <a:avLst/>
          </a:prstGeom>
          <a:noFill/>
          <a:ln/>
        </p:spPr>
        <p:txBody>
          <a:bodyPr wrap="square" lIns="0" tIns="0" rIns="0" bIns="0" rtlCol="0" anchor="t"/>
          <a:lstStyle/>
          <a:p>
            <a:pPr indent="0" marL="0">
              <a:buNone/>
            </a:pPr>
            <a:r>
              <a:rPr lang="en-US" sz="1250" b="1" dirty="0">
                <a:solidFill>
                  <a:srgbClr val="5EEAD4"/>
                </a:solidFill>
                <a:latin typeface="Calibri" pitchFamily="34" charset="0"/>
                <a:ea typeface="Calibri" pitchFamily="34" charset="-122"/>
                <a:cs typeface="Calibri" pitchFamily="34" charset="-120"/>
              </a:rPr>
              <a:t>We are not selling a miracle. </a:t>
            </a:r>
            <a:pPr indent="0" marL="0">
              <a:buNone/>
            </a:pPr>
            <a:r>
              <a:rPr lang="en-US" sz="1250" dirty="0">
                <a:solidFill>
                  <a:srgbClr val="C9D6E3"/>
                </a:solidFill>
                <a:latin typeface="Calibri" pitchFamily="34" charset="0"/>
                <a:ea typeface="Calibri" pitchFamily="34" charset="-122"/>
                <a:cs typeface="Calibri" pitchFamily="34" charset="-120"/>
              </a:rPr>
              <a:t>We are building the lab that can settle the question — and we will publish the answer either way.</a:t>
            </a:r>
            <a:endParaRPr lang="en-US" sz="1250" dirty="0"/>
          </a:p>
        </p:txBody>
      </p:sp>
      <p:sp>
        <p:nvSpPr>
          <p:cNvPr id="8" name="Shape 6"/>
          <p:cNvSpPr/>
          <p:nvPr/>
        </p:nvSpPr>
        <p:spPr>
          <a:xfrm>
            <a:off x="5486400" y="1234440"/>
            <a:ext cx="420624" cy="420624"/>
          </a:xfrm>
          <a:prstGeom prst="ellipse">
            <a:avLst/>
          </a:prstGeom>
          <a:solidFill>
            <a:srgbClr val="163338"/>
          </a:solidFill>
          <a:ln w="6350">
            <a:solidFill>
              <a:srgbClr val="5EEAD4"/>
            </a:solidFill>
            <a:prstDash val="solid"/>
          </a:ln>
        </p:spPr>
      </p:sp>
      <p:pic>
        <p:nvPicPr>
          <p:cNvPr id="9" name="Image 0" descr="preencoded.png">    </p:cNvPr>
          <p:cNvPicPr>
            <a:picLocks noChangeAspect="1"/>
          </p:cNvPicPr>
          <p:nvPr/>
        </p:nvPicPr>
        <p:blipFill>
          <a:blip r:embed="rId1"/>
          <a:stretch>
            <a:fillRect/>
          </a:stretch>
        </p:blipFill>
        <p:spPr>
          <a:xfrm>
            <a:off x="5587350" y="1335390"/>
            <a:ext cx="218724" cy="218724"/>
          </a:xfrm>
          <a:prstGeom prst="rect">
            <a:avLst/>
          </a:prstGeom>
        </p:spPr>
      </p:pic>
      <p:sp>
        <p:nvSpPr>
          <p:cNvPr id="10" name="Text 7"/>
          <p:cNvSpPr txBox="1"/>
          <p:nvPr/>
        </p:nvSpPr>
        <p:spPr>
          <a:xfrm>
            <a:off x="6053328" y="1216152"/>
            <a:ext cx="2651760" cy="27432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Rigorous testing</a:t>
            </a:r>
            <a:endParaRPr lang="en-US" sz="1250" dirty="0"/>
          </a:p>
        </p:txBody>
      </p:sp>
      <p:sp>
        <p:nvSpPr>
          <p:cNvPr id="11" name="Text 8"/>
          <p:cNvSpPr txBox="1"/>
          <p:nvPr/>
        </p:nvSpPr>
        <p:spPr>
          <a:xfrm>
            <a:off x="6053328" y="1508760"/>
            <a:ext cx="265176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Pre-registered protocols, blinded runs and artifact-exclusion controls at every gate.</a:t>
            </a:r>
            <a:endParaRPr lang="en-US" sz="1050" dirty="0"/>
          </a:p>
        </p:txBody>
      </p:sp>
      <p:sp>
        <p:nvSpPr>
          <p:cNvPr id="12" name="Shape 9"/>
          <p:cNvSpPr/>
          <p:nvPr/>
        </p:nvSpPr>
        <p:spPr>
          <a:xfrm>
            <a:off x="5486400" y="2331720"/>
            <a:ext cx="420624" cy="420624"/>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5587350" y="2432670"/>
            <a:ext cx="218724" cy="218724"/>
          </a:xfrm>
          <a:prstGeom prst="rect">
            <a:avLst/>
          </a:prstGeom>
        </p:spPr>
      </p:pic>
      <p:sp>
        <p:nvSpPr>
          <p:cNvPr id="14" name="Text 10"/>
          <p:cNvSpPr txBox="1"/>
          <p:nvPr/>
        </p:nvSpPr>
        <p:spPr>
          <a:xfrm>
            <a:off x="6053328" y="2313432"/>
            <a:ext cx="2651760" cy="27432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Transparent reporting</a:t>
            </a:r>
            <a:endParaRPr lang="en-US" sz="1250" dirty="0"/>
          </a:p>
        </p:txBody>
      </p:sp>
      <p:sp>
        <p:nvSpPr>
          <p:cNvPr id="15" name="Text 11"/>
          <p:cNvSpPr txBox="1"/>
          <p:nvPr/>
        </p:nvSpPr>
        <p:spPr>
          <a:xfrm>
            <a:off x="6053328" y="2606040"/>
            <a:ext cx="265176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Null results are published with their data. Investors read the same report the public does.</a:t>
            </a:r>
            <a:endParaRPr lang="en-US" sz="1050" dirty="0"/>
          </a:p>
        </p:txBody>
      </p:sp>
      <p:sp>
        <p:nvSpPr>
          <p:cNvPr id="16" name="Shape 12"/>
          <p:cNvSpPr/>
          <p:nvPr/>
        </p:nvSpPr>
        <p:spPr>
          <a:xfrm>
            <a:off x="5486400" y="3429000"/>
            <a:ext cx="420624" cy="420624"/>
          </a:xfrm>
          <a:prstGeom prst="ellipse">
            <a:avLst/>
          </a:prstGeom>
          <a:solidFill>
            <a:srgbClr val="163338"/>
          </a:solidFill>
          <a:ln w="6350">
            <a:solidFill>
              <a:srgbClr val="5EEAD4"/>
            </a:solidFill>
            <a:prstDash val="solid"/>
          </a:ln>
        </p:spPr>
      </p:sp>
      <p:pic>
        <p:nvPicPr>
          <p:cNvPr id="17" name="Image 2" descr="preencoded.png">    </p:cNvPr>
          <p:cNvPicPr>
            <a:picLocks noChangeAspect="1"/>
          </p:cNvPicPr>
          <p:nvPr/>
        </p:nvPicPr>
        <p:blipFill>
          <a:blip r:embed="rId3"/>
          <a:stretch>
            <a:fillRect/>
          </a:stretch>
        </p:blipFill>
        <p:spPr>
          <a:xfrm>
            <a:off x="5587350" y="3529950"/>
            <a:ext cx="218724" cy="218724"/>
          </a:xfrm>
          <a:prstGeom prst="rect">
            <a:avLst/>
          </a:prstGeom>
        </p:spPr>
      </p:pic>
      <p:sp>
        <p:nvSpPr>
          <p:cNvPr id="18" name="Text 13"/>
          <p:cNvSpPr txBox="1"/>
          <p:nvPr/>
        </p:nvSpPr>
        <p:spPr>
          <a:xfrm>
            <a:off x="6053328" y="3410712"/>
            <a:ext cx="2651760" cy="274320"/>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Independent validation</a:t>
            </a:r>
            <a:endParaRPr lang="en-US" sz="1250" dirty="0"/>
          </a:p>
        </p:txBody>
      </p:sp>
      <p:sp>
        <p:nvSpPr>
          <p:cNvPr id="19" name="Text 14"/>
          <p:cNvSpPr txBox="1"/>
          <p:nvPr/>
        </p:nvSpPr>
        <p:spPr>
          <a:xfrm>
            <a:off x="6053328" y="3703320"/>
            <a:ext cx="265176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Replication by an outside laboratory is budgeted and contracted before each gate begins. No performance claim before third-party validation.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3</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PROBLEM</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Energy density is the binding constraint</a:t>
            </a:r>
            <a:endParaRPr lang="en-US" sz="2400" dirty="0"/>
          </a:p>
        </p:txBody>
      </p:sp>
      <p:sp>
        <p:nvSpPr>
          <p:cNvPr id="6" name="Text 4"/>
          <p:cNvSpPr txBox="1"/>
          <p:nvPr/>
        </p:nvSpPr>
        <p:spPr>
          <a:xfrm>
            <a:off x="457200" y="1280160"/>
            <a:ext cx="3291840" cy="548640"/>
          </a:xfrm>
          <a:prstGeom prst="rect">
            <a:avLst/>
          </a:prstGeom>
          <a:noFill/>
          <a:ln/>
        </p:spPr>
        <p:txBody>
          <a:bodyPr wrap="square" lIns="0" tIns="0" rIns="0" bIns="0" rtlCol="0" anchor="ctr"/>
          <a:lstStyle/>
          <a:p>
            <a:pPr indent="0" marL="0">
              <a:buNone/>
            </a:pPr>
            <a:r>
              <a:rPr lang="en-US" sz="3000" b="1" dirty="0">
                <a:solidFill>
                  <a:srgbClr val="5EEAD4"/>
                </a:solidFill>
                <a:latin typeface="Cambria" pitchFamily="34" charset="0"/>
                <a:ea typeface="Cambria" pitchFamily="34" charset="-122"/>
                <a:cs typeface="Cambria" pitchFamily="34" charset="-120"/>
              </a:rPr>
              <a:t>~10 kWh/kg</a:t>
            </a:r>
            <a:endParaRPr lang="en-US" sz="3000" dirty="0"/>
          </a:p>
        </p:txBody>
      </p:sp>
      <p:sp>
        <p:nvSpPr>
          <p:cNvPr id="7" name="Text 5"/>
          <p:cNvSpPr txBox="1"/>
          <p:nvPr/>
        </p:nvSpPr>
        <p:spPr>
          <a:xfrm>
            <a:off x="457200" y="1810512"/>
            <a:ext cx="329184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chemical energy in body fat (37 MJ/kg)</a:t>
            </a:r>
            <a:endParaRPr lang="en-US" sz="1050" dirty="0"/>
          </a:p>
        </p:txBody>
      </p:sp>
      <p:sp>
        <p:nvSpPr>
          <p:cNvPr id="8" name="Text 6"/>
          <p:cNvSpPr txBox="1"/>
          <p:nvPr/>
        </p:nvSpPr>
        <p:spPr>
          <a:xfrm>
            <a:off x="457200" y="2331720"/>
            <a:ext cx="3291840" cy="548640"/>
          </a:xfrm>
          <a:prstGeom prst="rect">
            <a:avLst/>
          </a:prstGeom>
          <a:noFill/>
          <a:ln/>
        </p:spPr>
        <p:txBody>
          <a:bodyPr wrap="square" lIns="0" tIns="0" rIns="0" bIns="0" rtlCol="0" anchor="ctr"/>
          <a:lstStyle/>
          <a:p>
            <a:pPr indent="0" marL="0">
              <a:buNone/>
            </a:pPr>
            <a:r>
              <a:rPr lang="en-US" sz="3000" b="1" dirty="0">
                <a:solidFill>
                  <a:srgbClr val="5EEAD4"/>
                </a:solidFill>
                <a:latin typeface="Cambria" pitchFamily="34" charset="0"/>
                <a:ea typeface="Cambria" pitchFamily="34" charset="-122"/>
                <a:cs typeface="Cambria" pitchFamily="34" charset="-120"/>
              </a:rPr>
              <a:t>~0.25 kWh/kg</a:t>
            </a:r>
            <a:endParaRPr lang="en-US" sz="3000" dirty="0"/>
          </a:p>
        </p:txBody>
      </p:sp>
      <p:sp>
        <p:nvSpPr>
          <p:cNvPr id="9" name="Text 7"/>
          <p:cNvSpPr txBox="1"/>
          <p:nvPr/>
        </p:nvSpPr>
        <p:spPr>
          <a:xfrm>
            <a:off x="457200" y="2862072"/>
            <a:ext cx="329184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state-of-the-art lithium-ion cell; packs ≈ 0.12–0.20</a:t>
            </a:r>
            <a:endParaRPr lang="en-US" sz="1050" dirty="0"/>
          </a:p>
        </p:txBody>
      </p:sp>
      <p:sp>
        <p:nvSpPr>
          <p:cNvPr id="10" name="Text 8"/>
          <p:cNvSpPr txBox="1"/>
          <p:nvPr/>
        </p:nvSpPr>
        <p:spPr>
          <a:xfrm>
            <a:off x="457200" y="3383280"/>
            <a:ext cx="3291840" cy="548640"/>
          </a:xfrm>
          <a:prstGeom prst="rect">
            <a:avLst/>
          </a:prstGeom>
          <a:noFill/>
          <a:ln/>
        </p:spPr>
        <p:txBody>
          <a:bodyPr wrap="square" lIns="0" tIns="0" rIns="0" bIns="0" rtlCol="0" anchor="ctr"/>
          <a:lstStyle/>
          <a:p>
            <a:pPr indent="0" marL="0">
              <a:buNone/>
            </a:pPr>
            <a:r>
              <a:rPr lang="en-US" sz="3000" b="1" dirty="0">
                <a:solidFill>
                  <a:srgbClr val="F5B942"/>
                </a:solidFill>
                <a:latin typeface="Cambria" pitchFamily="34" charset="0"/>
                <a:ea typeface="Cambria" pitchFamily="34" charset="-122"/>
                <a:cs typeface="Cambria" pitchFamily="34" charset="-120"/>
              </a:rPr>
              <a:t>40× / 10–15×</a:t>
            </a:r>
            <a:endParaRPr lang="en-US" sz="3000" dirty="0"/>
          </a:p>
        </p:txBody>
      </p:sp>
      <p:sp>
        <p:nvSpPr>
          <p:cNvPr id="11" name="Text 9"/>
          <p:cNvSpPr txBox="1"/>
          <p:nvPr/>
        </p:nvSpPr>
        <p:spPr>
          <a:xfrm>
            <a:off x="457200" y="3913632"/>
            <a:ext cx="3291840" cy="41148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raw gap at the cell / gap on useful work after conversion efficiency</a:t>
            </a:r>
            <a:endParaRPr lang="en-US" sz="1050" dirty="0"/>
          </a:p>
        </p:txBody>
      </p:sp>
      <p:graphicFrame>
        <p:nvGraphicFramePr>
          <p:cNvPr id="12" name="Chart 0" descr=""/>
          <p:cNvGraphicFramePr/>
          <p:nvPr/>
        </p:nvGraphicFramePr>
        <p:xfrm>
          <a:off x="4023360" y="1188720"/>
          <a:ext cx="4663440" cy="30175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4315968"/>
            <a:ext cx="8229600" cy="411480"/>
          </a:xfrm>
          <a:prstGeom prst="rect">
            <a:avLst/>
          </a:prstGeom>
          <a:noFill/>
          <a:ln/>
        </p:spPr>
        <p:txBody>
          <a:bodyPr wrap="square" lIns="0" tIns="0" rIns="0" bIns="0" rtlCol="0" anchor="t"/>
          <a:lstStyle/>
          <a:p>
            <a:pPr indent="0" marL="0">
              <a:buNone/>
            </a:pPr>
            <a:r>
              <a:rPr lang="en-US" sz="800" dirty="0">
                <a:solidFill>
                  <a:srgbClr val="8FA3B8"/>
                </a:solidFill>
                <a:latin typeface="Calibri" pitchFamily="34" charset="0"/>
                <a:ea typeface="Calibri" pitchFamily="34" charset="-122"/>
                <a:cs typeface="Calibri" pitchFamily="34" charset="-120"/>
              </a:rPr>
              <a:t>Sources: FAO Food and Nutrition Paper 77 (Atwater factor, fat 37 kJ/g); U.S. DOE Battery500 update (2020, ~220 Wh/kg commercial cells); BatteryDesign.net cell and pack benchmarks (2022–2026). Useful-work ratio assumes muscle ≈20–25% and battery-to-motor ≈80–90% efficiency (Kashiri et al., Front. Robot. AI 2018).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4</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PROBLEM, TODAY</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Humanoids today run for hours, not days</a:t>
            </a:r>
            <a:endParaRPr lang="en-US" sz="2400" dirty="0"/>
          </a:p>
        </p:txBody>
      </p:sp>
      <p:graphicFrame>
        <p:nvGraphicFramePr>
          <p:cNvPr id="6" name="Chart 0" descr=""/>
          <p:cNvGraphicFramePr/>
          <p:nvPr/>
        </p:nvGraphicFramePr>
        <p:xfrm>
          <a:off x="365760" y="1188720"/>
          <a:ext cx="4846320" cy="3063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40680" y="1188720"/>
            <a:ext cx="3246120" cy="1417320"/>
          </a:xfrm>
          <a:prstGeom prst="roundRect">
            <a:avLst>
              <a:gd name="adj" fmla="val 5161"/>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8" name="Shape 5"/>
          <p:cNvSpPr/>
          <p:nvPr/>
        </p:nvSpPr>
        <p:spPr>
          <a:xfrm>
            <a:off x="5605272" y="1335024"/>
            <a:ext cx="365760" cy="365760"/>
          </a:xfrm>
          <a:prstGeom prst="ellipse">
            <a:avLst/>
          </a:prstGeom>
          <a:solidFill>
            <a:srgbClr val="163338"/>
          </a:solidFill>
          <a:ln w="6350">
            <a:solidFill>
              <a:srgbClr val="5EEAD4"/>
            </a:solidFill>
            <a:prstDash val="solid"/>
          </a:ln>
        </p:spPr>
      </p:sp>
      <p:pic>
        <p:nvPicPr>
          <p:cNvPr id="9" name="Image 0" descr="preencoded.png">    </p:cNvPr>
          <p:cNvPicPr>
            <a:picLocks noChangeAspect="1"/>
          </p:cNvPicPr>
          <p:nvPr/>
        </p:nvPicPr>
        <p:blipFill>
          <a:blip r:embed="rId2"/>
          <a:stretch>
            <a:fillRect/>
          </a:stretch>
        </p:blipFill>
        <p:spPr>
          <a:xfrm>
            <a:off x="5693054" y="1422806"/>
            <a:ext cx="190195" cy="190195"/>
          </a:xfrm>
          <a:prstGeom prst="rect">
            <a:avLst/>
          </a:prstGeom>
        </p:spPr>
      </p:pic>
      <p:sp>
        <p:nvSpPr>
          <p:cNvPr id="10" name="Text 6"/>
          <p:cNvSpPr txBox="1"/>
          <p:nvPr/>
        </p:nvSpPr>
        <p:spPr>
          <a:xfrm>
            <a:off x="6080760" y="1316736"/>
            <a:ext cx="246888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Stated runtimes (company claims)</a:t>
            </a:r>
            <a:endParaRPr lang="en-US" sz="1250" dirty="0"/>
          </a:p>
        </p:txBody>
      </p:sp>
      <p:sp>
        <p:nvSpPr>
          <p:cNvPr id="11" name="Text 7"/>
          <p:cNvSpPr txBox="1"/>
          <p:nvPr/>
        </p:nvSpPr>
        <p:spPr>
          <a:xfrm>
            <a:off x="5623560" y="1755648"/>
            <a:ext cx="2880360" cy="713232"/>
          </a:xfrm>
          <a:prstGeom prst="rect">
            <a:avLst/>
          </a:prstGeom>
          <a:noFill/>
          <a:ln/>
        </p:spPr>
        <p:txBody>
          <a:bodyPr wrap="square" lIns="0" tIns="0" rIns="0" bIns="0" rtlCol="0" anchor="t"/>
          <a:lstStyle/>
          <a:p>
            <a:pPr indent="0" marL="0">
              <a:spcAft>
                <a:spcPts val="400"/>
              </a:spcAft>
              <a:buNone/>
            </a:pPr>
            <a:r>
              <a:rPr lang="en-US" sz="1050" dirty="0">
                <a:solidFill>
                  <a:srgbClr val="C9D6E3"/>
                </a:solidFill>
                <a:latin typeface="Calibri" pitchFamily="34" charset="0"/>
                <a:ea typeface="Calibri" pitchFamily="34" charset="-122"/>
                <a:cs typeface="Calibri" pitchFamily="34" charset="-120"/>
              </a:rPr>
              <a:t>Figure 03: 5 h · Boston Dynamics Atlas: 4 h, 2 h with heavy lifting · Agility Digit: up to 4 h · Apptronik Apollo: 4 h · Unitree G1: ~2 h · Tesla Optimus: "about a full day" (2022)</a:t>
            </a:r>
            <a:endParaRPr lang="en-US" sz="1050" dirty="0"/>
          </a:p>
        </p:txBody>
      </p:sp>
      <p:sp>
        <p:nvSpPr>
          <p:cNvPr id="12" name="Shape 8"/>
          <p:cNvSpPr/>
          <p:nvPr/>
        </p:nvSpPr>
        <p:spPr>
          <a:xfrm>
            <a:off x="5440680" y="2743200"/>
            <a:ext cx="3246120" cy="1508760"/>
          </a:xfrm>
          <a:prstGeom prst="roundRect">
            <a:avLst>
              <a:gd name="adj" fmla="val 4848"/>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3" name="Shape 9"/>
          <p:cNvSpPr/>
          <p:nvPr/>
        </p:nvSpPr>
        <p:spPr>
          <a:xfrm>
            <a:off x="5605272" y="2889504"/>
            <a:ext cx="365760" cy="365760"/>
          </a:xfrm>
          <a:prstGeom prst="ellipse">
            <a:avLst/>
          </a:prstGeom>
          <a:solidFill>
            <a:srgbClr val="163338"/>
          </a:solidFill>
          <a:ln w="6350">
            <a:solidFill>
              <a:srgbClr val="5EEAD4"/>
            </a:solidFill>
            <a:prstDash val="solid"/>
          </a:ln>
        </p:spPr>
      </p:sp>
      <p:pic>
        <p:nvPicPr>
          <p:cNvPr id="14" name="Image 1" descr="preencoded.png">    </p:cNvPr>
          <p:cNvPicPr>
            <a:picLocks noChangeAspect="1"/>
          </p:cNvPicPr>
          <p:nvPr/>
        </p:nvPicPr>
        <p:blipFill>
          <a:blip r:embed="rId3"/>
          <a:stretch>
            <a:fillRect/>
          </a:stretch>
        </p:blipFill>
        <p:spPr>
          <a:xfrm>
            <a:off x="5693054" y="2977286"/>
            <a:ext cx="190195" cy="190195"/>
          </a:xfrm>
          <a:prstGeom prst="rect">
            <a:avLst/>
          </a:prstGeom>
        </p:spPr>
      </p:pic>
      <p:sp>
        <p:nvSpPr>
          <p:cNvPr id="15" name="Text 10"/>
          <p:cNvSpPr txBox="1"/>
          <p:nvPr/>
        </p:nvSpPr>
        <p:spPr>
          <a:xfrm>
            <a:off x="6080760" y="2871216"/>
            <a:ext cx="246888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Power draw at rest</a:t>
            </a:r>
            <a:endParaRPr lang="en-US" sz="1250" dirty="0"/>
          </a:p>
        </p:txBody>
      </p:sp>
      <p:sp>
        <p:nvSpPr>
          <p:cNvPr id="16" name="Text 11"/>
          <p:cNvSpPr txBox="1"/>
          <p:nvPr/>
        </p:nvSpPr>
        <p:spPr>
          <a:xfrm>
            <a:off x="5623560" y="3310128"/>
            <a:ext cx="2880360" cy="804672"/>
          </a:xfrm>
          <a:prstGeom prst="rect">
            <a:avLst/>
          </a:prstGeom>
          <a:noFill/>
          <a:ln/>
        </p:spPr>
        <p:txBody>
          <a:bodyPr wrap="square" lIns="0" tIns="0" rIns="0" bIns="0" rtlCol="0" anchor="t"/>
          <a:lstStyle/>
          <a:p>
            <a:pPr indent="0" marL="0">
              <a:spcAft>
                <a:spcPts val="400"/>
              </a:spcAft>
              <a:buNone/>
            </a:pPr>
            <a:r>
              <a:rPr lang="en-US" sz="1050" dirty="0">
                <a:solidFill>
                  <a:srgbClr val="C9D6E3"/>
                </a:solidFill>
                <a:latin typeface="Calibri" pitchFamily="34" charset="0"/>
                <a:ea typeface="Calibri" pitchFamily="34" charset="-122"/>
                <a:cs typeface="Calibri" pitchFamily="34" charset="-120"/>
              </a:rPr>
              <a:t>Humanoids: 150–400 W. A human: 60–80 W (Kashiri et al., Frontiers in Robotics and AI, 2018). Human-grade touch, vision and actuation will draw more, not less.</a:t>
            </a:r>
            <a:endParaRPr lang="en-US" sz="1050" dirty="0"/>
          </a:p>
        </p:txBody>
      </p:sp>
      <p:sp>
        <p:nvSpPr>
          <p:cNvPr id="17" name="Text 12"/>
          <p:cNvSpPr txBox="1"/>
          <p:nvPr/>
        </p:nvSpPr>
        <p:spPr>
          <a:xfrm>
            <a:off x="457200" y="4343400"/>
            <a:ext cx="8229600" cy="384048"/>
          </a:xfrm>
          <a:prstGeom prst="rect">
            <a:avLst/>
          </a:prstGeom>
          <a:noFill/>
          <a:ln/>
        </p:spPr>
        <p:txBody>
          <a:bodyPr wrap="square" lIns="0" tIns="0" rIns="0" bIns="0" rtlCol="0" anchor="t"/>
          <a:lstStyle/>
          <a:p>
            <a:pPr indent="0" marL="0">
              <a:buNone/>
            </a:pPr>
            <a:r>
              <a:rPr lang="en-US" sz="800" dirty="0">
                <a:solidFill>
                  <a:srgbClr val="8FA3B8"/>
                </a:solidFill>
                <a:latin typeface="Calibri" pitchFamily="34" charset="0"/>
                <a:ea typeface="Calibri" pitchFamily="34" charset="-122"/>
                <a:cs typeface="Calibri" pitchFamily="34" charset="-120"/>
              </a:rPr>
              <a:t>Sources: Tesla AI Day (Sep 2022, via IEEE Spectrum); Figure AI releases (Aug 2024, Jul 2025); unitree.com; Agility Robotics (Mar 2025); The Robot Report (Aug 2023); Boston Dynamics Atlas spec sheet (Dec 2025). All robot figures are manufacturer claims as of the dates shown.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5</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THESIS AND VISION — KEPT SEPARATE</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The problem, and the vision we do not yet claim</a:t>
            </a:r>
            <a:endParaRPr lang="en-US" sz="2400" dirty="0"/>
          </a:p>
        </p:txBody>
      </p:sp>
      <p:sp>
        <p:nvSpPr>
          <p:cNvPr id="6" name="Shape 4"/>
          <p:cNvSpPr/>
          <p:nvPr/>
        </p:nvSpPr>
        <p:spPr>
          <a:xfrm>
            <a:off x="457200" y="1234440"/>
            <a:ext cx="3977640" cy="3063240"/>
          </a:xfrm>
          <a:prstGeom prst="roundRect">
            <a:avLst>
              <a:gd name="adj" fmla="val 2388"/>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380744"/>
            <a:ext cx="365760" cy="365760"/>
          </a:xfrm>
          <a:prstGeom prst="ellipse">
            <a:avLst/>
          </a:prstGeom>
          <a:solidFill>
            <a:srgbClr val="163338"/>
          </a:solidFill>
          <a:ln w="6350">
            <a:solidFill>
              <a:srgbClr val="5EEAD4"/>
            </a:solidFill>
            <a:prstDash val="solid"/>
          </a:ln>
        </p:spPr>
      </p:sp>
      <p:pic>
        <p:nvPicPr>
          <p:cNvPr id="8" name="Image 0" descr="preencoded.png">    </p:cNvPr>
          <p:cNvPicPr>
            <a:picLocks noChangeAspect="1"/>
          </p:cNvPicPr>
          <p:nvPr/>
        </p:nvPicPr>
        <p:blipFill>
          <a:blip r:embed="rId1"/>
          <a:stretch>
            <a:fillRect/>
          </a:stretch>
        </p:blipFill>
        <p:spPr>
          <a:xfrm>
            <a:off x="709574" y="1468526"/>
            <a:ext cx="190195" cy="190195"/>
          </a:xfrm>
          <a:prstGeom prst="rect">
            <a:avLst/>
          </a:prstGeom>
        </p:spPr>
      </p:pic>
      <p:sp>
        <p:nvSpPr>
          <p:cNvPr id="9" name="Text 6"/>
          <p:cNvSpPr txBox="1"/>
          <p:nvPr/>
        </p:nvSpPr>
        <p:spPr>
          <a:xfrm>
            <a:off x="109728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The problem (today, unconditional)</a:t>
            </a:r>
            <a:endParaRPr lang="en-US" sz="1250" dirty="0"/>
          </a:p>
        </p:txBody>
      </p:sp>
      <p:sp>
        <p:nvSpPr>
          <p:cNvPr id="10" name="Text 7"/>
          <p:cNvSpPr txBox="1"/>
          <p:nvPr/>
        </p:nvSpPr>
        <p:spPr>
          <a:xfrm>
            <a:off x="640080" y="1801368"/>
            <a:ext cx="3611880" cy="2359152"/>
          </a:xfrm>
          <a:prstGeom prst="rect">
            <a:avLst/>
          </a:prstGeom>
          <a:noFill/>
          <a:ln/>
        </p:spPr>
        <p:txBody>
          <a:bodyPr wrap="square" lIns="0" tIns="0" rIns="0" bIns="0" rtlCol="0" anchor="t"/>
          <a:lstStyle/>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A machine with human-grade sensing — nerve-density touch, continuous vision and hearing — and human-grade actuation needs a fuel with far higher energy density than any battery on the roadmap.</a:t>
            </a:r>
            <a:endParaRPr lang="en-US" sz="1100" dirty="0"/>
          </a:p>
          <a:p>
            <a:pPr indent="0" marL="0">
              <a:spcAft>
                <a:spcPts val="400"/>
              </a:spcAft>
              <a:buNone/>
            </a:pPr>
            <a:endParaRPr lang="en-US" sz="1100" dirty="0"/>
          </a:p>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Batteries improve a few percent a year. A different kind of source is worth investigating — carefully, with the physics prior taken seriously.</a:t>
            </a:r>
            <a:endParaRPr lang="en-US" sz="1100" dirty="0"/>
          </a:p>
          <a:p>
            <a:pPr indent="0" marL="0">
              <a:spcAft>
                <a:spcPts val="400"/>
              </a:spcAft>
              <a:buNone/>
            </a:pPr>
            <a:endParaRPr lang="en-US" sz="1100" dirty="0"/>
          </a:p>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This is the founder's reason for starting EnergyWave, and it stands whether or not the research succeeds.</a:t>
            </a:r>
            <a:endParaRPr lang="en-US" sz="1100" dirty="0"/>
          </a:p>
        </p:txBody>
      </p:sp>
      <p:sp>
        <p:nvSpPr>
          <p:cNvPr id="11" name="Shape 8"/>
          <p:cNvSpPr/>
          <p:nvPr/>
        </p:nvSpPr>
        <p:spPr>
          <a:xfrm>
            <a:off x="4709160" y="1234440"/>
            <a:ext cx="3977640" cy="3063240"/>
          </a:xfrm>
          <a:prstGeom prst="roundRect">
            <a:avLst>
              <a:gd name="adj" fmla="val 2388"/>
            </a:avLst>
          </a:prstGeom>
          <a:solidFill>
            <a:srgbClr val="121A2E"/>
          </a:solidFill>
          <a:ln w="9525">
            <a:solidFill>
              <a:srgbClr val="163338"/>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4873752" y="138074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4961534" y="1468526"/>
            <a:ext cx="190195" cy="190195"/>
          </a:xfrm>
          <a:prstGeom prst="rect">
            <a:avLst/>
          </a:prstGeom>
        </p:spPr>
      </p:pic>
      <p:sp>
        <p:nvSpPr>
          <p:cNvPr id="14" name="Text 10"/>
          <p:cNvSpPr txBox="1"/>
          <p:nvPr/>
        </p:nvSpPr>
        <p:spPr>
          <a:xfrm>
            <a:off x="534924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The vision (conditional on Gates 2 and 3)</a:t>
            </a:r>
            <a:endParaRPr lang="en-US" sz="1250" dirty="0"/>
          </a:p>
        </p:txBody>
      </p:sp>
      <p:sp>
        <p:nvSpPr>
          <p:cNvPr id="15" name="Text 11"/>
          <p:cNvSpPr txBox="1"/>
          <p:nvPr/>
        </p:nvSpPr>
        <p:spPr>
          <a:xfrm>
            <a:off x="4892040" y="1801368"/>
            <a:ext cx="3611880" cy="2359152"/>
          </a:xfrm>
          <a:prstGeom prst="rect">
            <a:avLst/>
          </a:prstGeom>
          <a:noFill/>
          <a:ln/>
        </p:spPr>
        <p:txBody>
          <a:bodyPr wrap="square" lIns="0" tIns="0" rIns="0" bIns="0" rtlCol="0" anchor="t"/>
          <a:lstStyle/>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If — and only if — the gates pass, the same physics would matter far beyond robotics: power where the grid cannot reach, distributed sensing, aerospace.</a:t>
            </a:r>
            <a:endParaRPr lang="en-US" sz="1100" dirty="0"/>
          </a:p>
          <a:p>
            <a:pPr indent="0" marL="0">
              <a:spcAft>
                <a:spcPts val="400"/>
              </a:spcAft>
              <a:buNone/>
            </a:pPr>
            <a:endParaRPr lang="en-US" sz="1100" dirty="0"/>
          </a:p>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Every statement EnergyWave makes about this vision is conditional. We do not describe products, output figures or timelines for something that has not been demonstrated.</a:t>
            </a:r>
            <a:endParaRPr lang="en-US" sz="1100" dirty="0"/>
          </a:p>
          <a:p>
            <a:pPr indent="0" marL="0">
              <a:spcAft>
                <a:spcPts val="400"/>
              </a:spcAft>
              <a:buNone/>
            </a:pPr>
            <a:endParaRPr lang="en-US" sz="1100" dirty="0"/>
          </a:p>
          <a:p>
            <a:pPr indent="0" marL="0">
              <a:spcAft>
                <a:spcPts val="400"/>
              </a:spcAft>
              <a:buNone/>
            </a:pPr>
            <a:r>
              <a:rPr lang="en-US" sz="1100" dirty="0">
                <a:solidFill>
                  <a:srgbClr val="C9D6E3"/>
                </a:solidFill>
                <a:latin typeface="Calibri" pitchFamily="34" charset="0"/>
                <a:ea typeface="Calibri" pitchFamily="34" charset="-122"/>
                <a:cs typeface="Calibri" pitchFamily="34" charset="-120"/>
              </a:rPr>
              <a:t>The website, the prospectus and this deck all keep the two columns apart.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6</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SCIENCE, HONESTLY</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Established, observed, proposed — or only claimed</a:t>
            </a:r>
            <a:endParaRPr lang="en-US" sz="2400" dirty="0"/>
          </a:p>
        </p:txBody>
      </p:sp>
      <p:sp>
        <p:nvSpPr>
          <p:cNvPr id="6" name="Shape 4"/>
          <p:cNvSpPr/>
          <p:nvPr/>
        </p:nvSpPr>
        <p:spPr>
          <a:xfrm>
            <a:off x="457200" y="1188720"/>
            <a:ext cx="5394960" cy="731520"/>
          </a:xfrm>
          <a:prstGeom prst="roundRect">
            <a:avLst>
              <a:gd name="adj" fmla="val 7500"/>
            </a:avLst>
          </a:prstGeom>
          <a:solidFill>
            <a:srgbClr val="121A2E"/>
          </a:solidFill>
          <a:ln w="9525">
            <a:solidFill>
              <a:srgbClr val="223049"/>
            </a:solidFill>
            <a:prstDash val="solid"/>
          </a:ln>
        </p:spPr>
      </p:sp>
      <p:sp>
        <p:nvSpPr>
          <p:cNvPr id="7" name="Text 5"/>
          <p:cNvSpPr txBox="1"/>
          <p:nvPr/>
        </p:nvSpPr>
        <p:spPr>
          <a:xfrm>
            <a:off x="594360" y="1261872"/>
            <a:ext cx="1325880" cy="585216"/>
          </a:xfrm>
          <a:prstGeom prst="rect">
            <a:avLst/>
          </a:prstGeom>
          <a:noFill/>
          <a:ln/>
        </p:spPr>
        <p:txBody>
          <a:bodyPr wrap="square" lIns="0" tIns="0" rIns="0" bIns="0" rtlCol="0" anchor="ctr"/>
          <a:lstStyle/>
          <a:p>
            <a:pPr indent="0" marL="0">
              <a:buNone/>
            </a:pPr>
            <a:r>
              <a:rPr lang="en-US" sz="850" b="1" spc="100" kern="0" dirty="0">
                <a:solidFill>
                  <a:srgbClr val="5EEAD4"/>
                </a:solidFill>
                <a:latin typeface="Calibri" pitchFamily="34" charset="0"/>
                <a:ea typeface="Calibri" pitchFamily="34" charset="-122"/>
                <a:cs typeface="Calibri" pitchFamily="34" charset="-120"/>
              </a:rPr>
              <a:t>ESTABLISHED</a:t>
            </a:r>
            <a:endParaRPr lang="en-US" sz="850" dirty="0"/>
          </a:p>
        </p:txBody>
      </p:sp>
      <p:sp>
        <p:nvSpPr>
          <p:cNvPr id="8" name="Text 6"/>
          <p:cNvSpPr txBox="1"/>
          <p:nvPr/>
        </p:nvSpPr>
        <p:spPr>
          <a:xfrm>
            <a:off x="1874520" y="1234440"/>
            <a:ext cx="3931920" cy="640080"/>
          </a:xfrm>
          <a:prstGeom prst="rect">
            <a:avLst/>
          </a:prstGeom>
          <a:noFill/>
          <a:ln/>
        </p:spPr>
        <p:txBody>
          <a:bodyPr wrap="square" lIns="0" tIns="0" rIns="0" bIns="0" rtlCol="0" anchor="ctr"/>
          <a:lstStyle/>
          <a:p>
            <a:pPr indent="0" marL="0">
              <a:buNone/>
            </a:pPr>
            <a:r>
              <a:rPr lang="en-US" sz="850" dirty="0">
                <a:solidFill>
                  <a:srgbClr val="C9D6E3"/>
                </a:solidFill>
                <a:latin typeface="Calibri" pitchFamily="34" charset="0"/>
                <a:ea typeface="Calibri" pitchFamily="34" charset="-122"/>
                <a:cs typeface="Calibri" pitchFamily="34" charset="-120"/>
              </a:rPr>
              <a:t>The Casimir effect is real and precisely measured: Casimir 1948; Lamoreaux 1997; Mohideen &amp; Roy 1998; Bressi et al. 2002 (parallel plates); review Klimchitskaya, Mohideen &amp; Mostepanenko, Rev. Mod. Phys. 2009 — errors as low as 0.2%. Casimir energy is a difference of zero-point energies; the force is conservative.</a:t>
            </a:r>
            <a:endParaRPr lang="en-US" sz="850" dirty="0"/>
          </a:p>
        </p:txBody>
      </p:sp>
      <p:sp>
        <p:nvSpPr>
          <p:cNvPr id="9" name="Shape 7"/>
          <p:cNvSpPr/>
          <p:nvPr/>
        </p:nvSpPr>
        <p:spPr>
          <a:xfrm>
            <a:off x="457200" y="2011680"/>
            <a:ext cx="5394960" cy="731520"/>
          </a:xfrm>
          <a:prstGeom prst="roundRect">
            <a:avLst>
              <a:gd name="adj" fmla="val 7500"/>
            </a:avLst>
          </a:prstGeom>
          <a:solidFill>
            <a:srgbClr val="121A2E"/>
          </a:solidFill>
          <a:ln w="9525">
            <a:solidFill>
              <a:srgbClr val="223049"/>
            </a:solidFill>
            <a:prstDash val="solid"/>
          </a:ln>
        </p:spPr>
      </p:sp>
      <p:sp>
        <p:nvSpPr>
          <p:cNvPr id="10" name="Text 8"/>
          <p:cNvSpPr txBox="1"/>
          <p:nvPr/>
        </p:nvSpPr>
        <p:spPr>
          <a:xfrm>
            <a:off x="594360" y="2084832"/>
            <a:ext cx="1325880" cy="585216"/>
          </a:xfrm>
          <a:prstGeom prst="rect">
            <a:avLst/>
          </a:prstGeom>
          <a:noFill/>
          <a:ln/>
        </p:spPr>
        <p:txBody>
          <a:bodyPr wrap="square" lIns="0" tIns="0" rIns="0" bIns="0" rtlCol="0" anchor="ctr"/>
          <a:lstStyle/>
          <a:p>
            <a:pPr indent="0" marL="0">
              <a:buNone/>
            </a:pPr>
            <a:r>
              <a:rPr lang="en-US" sz="850" b="1" spc="100" kern="0" dirty="0">
                <a:solidFill>
                  <a:srgbClr val="C9D6E3"/>
                </a:solidFill>
                <a:latin typeface="Calibri" pitchFamily="34" charset="0"/>
                <a:ea typeface="Calibri" pitchFamily="34" charset="-122"/>
                <a:cs typeface="Calibri" pitchFamily="34" charset="-120"/>
              </a:rPr>
              <a:t>OBSERVED</a:t>
            </a:r>
            <a:endParaRPr lang="en-US" sz="850" dirty="0"/>
          </a:p>
        </p:txBody>
      </p:sp>
      <p:sp>
        <p:nvSpPr>
          <p:cNvPr id="11" name="Text 9"/>
          <p:cNvSpPr txBox="1"/>
          <p:nvPr/>
        </p:nvSpPr>
        <p:spPr>
          <a:xfrm>
            <a:off x="1874520" y="2057400"/>
            <a:ext cx="3931920" cy="640080"/>
          </a:xfrm>
          <a:prstGeom prst="rect">
            <a:avLst/>
          </a:prstGeom>
          <a:noFill/>
          <a:ln/>
        </p:spPr>
        <p:txBody>
          <a:bodyPr wrap="square" lIns="0" tIns="0" rIns="0" bIns="0" rtlCol="0" anchor="ctr"/>
          <a:lstStyle/>
          <a:p>
            <a:pPr indent="0" marL="0">
              <a:buNone/>
            </a:pPr>
            <a:r>
              <a:rPr lang="en-US" sz="850" dirty="0">
                <a:solidFill>
                  <a:srgbClr val="C9D6E3"/>
                </a:solidFill>
                <a:latin typeface="Calibri" pitchFamily="34" charset="0"/>
                <a:ea typeface="Calibri" pitchFamily="34" charset="-122"/>
                <a:cs typeface="Calibri" pitchFamily="34" charset="-120"/>
              </a:rPr>
              <a:t>The force can be engineered: reduced by nanostructuring (Intravaia et al. 2013), reversed in fluids (Munday, Capasso &amp; Parsegian 2009), given a stable equilibrium (Zhao et al. 2019), turned into a torque (Somers et al. 2018), tuned magnetically (Zhang et al. 2024). The dynamical Casimir effect makes real photons from vacuum fluctuations (Wilson et al. 2011) — with energy supplied by the pump.</a:t>
            </a:r>
            <a:endParaRPr lang="en-US" sz="850" dirty="0"/>
          </a:p>
        </p:txBody>
      </p:sp>
      <p:sp>
        <p:nvSpPr>
          <p:cNvPr id="12" name="Shape 10"/>
          <p:cNvSpPr/>
          <p:nvPr/>
        </p:nvSpPr>
        <p:spPr>
          <a:xfrm>
            <a:off x="457200" y="2834640"/>
            <a:ext cx="5394960" cy="731520"/>
          </a:xfrm>
          <a:prstGeom prst="roundRect">
            <a:avLst>
              <a:gd name="adj" fmla="val 7500"/>
            </a:avLst>
          </a:prstGeom>
          <a:solidFill>
            <a:srgbClr val="121A2E"/>
          </a:solidFill>
          <a:ln w="9525">
            <a:solidFill>
              <a:srgbClr val="223049"/>
            </a:solidFill>
            <a:prstDash val="solid"/>
          </a:ln>
        </p:spPr>
      </p:sp>
      <p:sp>
        <p:nvSpPr>
          <p:cNvPr id="13" name="Text 11"/>
          <p:cNvSpPr txBox="1"/>
          <p:nvPr/>
        </p:nvSpPr>
        <p:spPr>
          <a:xfrm>
            <a:off x="594360" y="2907792"/>
            <a:ext cx="1325880" cy="585216"/>
          </a:xfrm>
          <a:prstGeom prst="rect">
            <a:avLst/>
          </a:prstGeom>
          <a:noFill/>
          <a:ln/>
        </p:spPr>
        <p:txBody>
          <a:bodyPr wrap="square" lIns="0" tIns="0" rIns="0" bIns="0" rtlCol="0" anchor="ctr"/>
          <a:lstStyle/>
          <a:p>
            <a:pPr indent="0" marL="0">
              <a:buNone/>
            </a:pPr>
            <a:r>
              <a:rPr lang="en-US" sz="850" b="1" spc="100" kern="0" dirty="0">
                <a:solidFill>
                  <a:srgbClr val="8FA3B8"/>
                </a:solidFill>
                <a:latin typeface="Calibri" pitchFamily="34" charset="0"/>
                <a:ea typeface="Calibri" pitchFamily="34" charset="-122"/>
                <a:cs typeface="Calibri" pitchFamily="34" charset="-120"/>
              </a:rPr>
              <a:t>PROPOSED</a:t>
            </a:r>
            <a:endParaRPr lang="en-US" sz="850" dirty="0"/>
          </a:p>
        </p:txBody>
      </p:sp>
      <p:sp>
        <p:nvSpPr>
          <p:cNvPr id="14" name="Text 12"/>
          <p:cNvSpPr txBox="1"/>
          <p:nvPr/>
        </p:nvSpPr>
        <p:spPr>
          <a:xfrm>
            <a:off x="1874520" y="2880360"/>
            <a:ext cx="3931920" cy="640080"/>
          </a:xfrm>
          <a:prstGeom prst="rect">
            <a:avLst/>
          </a:prstGeom>
          <a:noFill/>
          <a:ln/>
        </p:spPr>
        <p:txBody>
          <a:bodyPr wrap="square" lIns="0" tIns="0" rIns="0" bIns="0" rtlCol="0" anchor="ctr"/>
          <a:lstStyle/>
          <a:p>
            <a:pPr indent="0" marL="0">
              <a:buNone/>
            </a:pPr>
            <a:r>
              <a:rPr lang="en-US" sz="850" dirty="0">
                <a:solidFill>
                  <a:srgbClr val="C9D6E3"/>
                </a:solidFill>
                <a:latin typeface="Calibri" pitchFamily="34" charset="0"/>
                <a:ea typeface="Calibri" pitchFamily="34" charset="-122"/>
                <a:cs typeface="Calibri" pitchFamily="34" charset="-120"/>
              </a:rPr>
              <a:t>Energy-extraction schemes exist on paper only: Forward 1984 (a one-shot 'battery', rechargeable by the author's own description); Pinto 1999 (disputed); Haisch &amp; Moddel patent 2008 (gas flow through cavities; 2012 test inconclusive).</a:t>
            </a:r>
            <a:endParaRPr lang="en-US" sz="850" dirty="0"/>
          </a:p>
        </p:txBody>
      </p:sp>
      <p:sp>
        <p:nvSpPr>
          <p:cNvPr id="15" name="Shape 13"/>
          <p:cNvSpPr/>
          <p:nvPr/>
        </p:nvSpPr>
        <p:spPr>
          <a:xfrm>
            <a:off x="457200" y="3657600"/>
            <a:ext cx="5394960" cy="731520"/>
          </a:xfrm>
          <a:prstGeom prst="roundRect">
            <a:avLst>
              <a:gd name="adj" fmla="val 7500"/>
            </a:avLst>
          </a:prstGeom>
          <a:solidFill>
            <a:srgbClr val="121A2E"/>
          </a:solidFill>
          <a:ln w="9525">
            <a:solidFill>
              <a:srgbClr val="F5B942"/>
            </a:solidFill>
            <a:prstDash val="solid"/>
          </a:ln>
        </p:spPr>
      </p:sp>
      <p:sp>
        <p:nvSpPr>
          <p:cNvPr id="16" name="Text 14"/>
          <p:cNvSpPr txBox="1"/>
          <p:nvPr/>
        </p:nvSpPr>
        <p:spPr>
          <a:xfrm>
            <a:off x="594360" y="3730752"/>
            <a:ext cx="1325880" cy="585216"/>
          </a:xfrm>
          <a:prstGeom prst="rect">
            <a:avLst/>
          </a:prstGeom>
          <a:noFill/>
          <a:ln/>
        </p:spPr>
        <p:txBody>
          <a:bodyPr wrap="square" lIns="0" tIns="0" rIns="0" bIns="0" rtlCol="0" anchor="ctr"/>
          <a:lstStyle/>
          <a:p>
            <a:pPr indent="0" marL="0">
              <a:buNone/>
            </a:pPr>
            <a:r>
              <a:rPr lang="en-US" sz="850" b="1" spc="100" kern="0" dirty="0">
                <a:solidFill>
                  <a:srgbClr val="F5B942"/>
                </a:solidFill>
                <a:latin typeface="Calibri" pitchFamily="34" charset="0"/>
                <a:ea typeface="Calibri" pitchFamily="34" charset="-122"/>
                <a:cs typeface="Calibri" pitchFamily="34" charset="-120"/>
              </a:rPr>
              <a:t>CLAIMED, NOT REPLICATED</a:t>
            </a:r>
            <a:endParaRPr lang="en-US" sz="850" dirty="0"/>
          </a:p>
        </p:txBody>
      </p:sp>
      <p:sp>
        <p:nvSpPr>
          <p:cNvPr id="17" name="Text 15"/>
          <p:cNvSpPr txBox="1"/>
          <p:nvPr/>
        </p:nvSpPr>
        <p:spPr>
          <a:xfrm>
            <a:off x="1874520" y="3703320"/>
            <a:ext cx="3931920" cy="640080"/>
          </a:xfrm>
          <a:prstGeom prst="rect">
            <a:avLst/>
          </a:prstGeom>
          <a:noFill/>
          <a:ln/>
        </p:spPr>
        <p:txBody>
          <a:bodyPr wrap="square" lIns="0" tIns="0" rIns="0" bIns="0" rtlCol="0" anchor="ctr"/>
          <a:lstStyle/>
          <a:p>
            <a:pPr indent="0" marL="0">
              <a:buNone/>
            </a:pPr>
            <a:r>
              <a:rPr lang="en-US" sz="850" dirty="0">
                <a:solidFill>
                  <a:srgbClr val="C9D6E3"/>
                </a:solidFill>
                <a:latin typeface="Calibri" pitchFamily="34" charset="0"/>
                <a:ea typeface="Calibri" pitchFamily="34" charset="-122"/>
                <a:cs typeface="Calibri" pitchFamily="34" charset="-120"/>
              </a:rPr>
              <a:t>Moddel et al. 2021: MIM diodes under a Casimir cavity show a ~50× conductance change (Phys. Rev. Research) and an unexplained current, maximum 1.4 pW (Symmetry). One laboratory, &gt;1,000 devices, no independent replication; Maclay 2024 argues the mechanism predicts the opposite sign. Casimir Inc. 'MicroSparc' (May 2026): ~40 μW company claim, no peer-reviewed device data.</a:t>
            </a:r>
            <a:endParaRPr lang="en-US" sz="850" dirty="0"/>
          </a:p>
        </p:txBody>
      </p:sp>
      <p:pic>
        <p:nvPicPr>
          <p:cNvPr id="18" name="Image 0" descr="/home/claude/energywave/deck/assets/cavity.png">    </p:cNvPr>
          <p:cNvPicPr>
            <a:picLocks noChangeAspect="1"/>
          </p:cNvPicPr>
          <p:nvPr/>
        </p:nvPicPr>
        <p:blipFill>
          <a:blip r:embed="rId1"/>
          <a:stretch>
            <a:fillRect/>
          </a:stretch>
        </p:blipFill>
        <p:spPr>
          <a:xfrm>
            <a:off x="6035040" y="1188720"/>
            <a:ext cx="2651760" cy="1682496"/>
          </a:xfrm>
          <a:prstGeom prst="rect">
            <a:avLst/>
          </a:prstGeom>
        </p:spPr>
      </p:pic>
      <p:sp>
        <p:nvSpPr>
          <p:cNvPr id="19" name="Text 16"/>
          <p:cNvSpPr txBox="1"/>
          <p:nvPr/>
        </p:nvSpPr>
        <p:spPr>
          <a:xfrm>
            <a:off x="6035040" y="2971800"/>
            <a:ext cx="2651760" cy="1463040"/>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Two plates suppress the electromagnetic modes between them; the missing modes produce a measurable inward pressure. Engineering that force is routine. Extracting net energy from it over a cycle has never been demonstrated.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7</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PRIOR</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Why physicists expect the answer to be 'no'</a:t>
            </a:r>
            <a:endParaRPr lang="en-US" sz="2400" dirty="0"/>
          </a:p>
        </p:txBody>
      </p:sp>
      <p:sp>
        <p:nvSpPr>
          <p:cNvPr id="6" name="Shape 4"/>
          <p:cNvSpPr/>
          <p:nvPr/>
        </p:nvSpPr>
        <p:spPr>
          <a:xfrm>
            <a:off x="457200" y="1225296"/>
            <a:ext cx="402336" cy="402336"/>
          </a:xfrm>
          <a:prstGeom prst="ellipse">
            <a:avLst/>
          </a:prstGeom>
          <a:solidFill>
            <a:srgbClr val="163338"/>
          </a:solidFill>
          <a:ln w="6350">
            <a:solidFill>
              <a:srgbClr val="5EEAD4"/>
            </a:solidFill>
            <a:prstDash val="solid"/>
          </a:ln>
        </p:spPr>
      </p:sp>
      <p:pic>
        <p:nvPicPr>
          <p:cNvPr id="7" name="Image 0" descr="preencoded.png">    </p:cNvPr>
          <p:cNvPicPr>
            <a:picLocks noChangeAspect="1"/>
          </p:cNvPicPr>
          <p:nvPr/>
        </p:nvPicPr>
        <p:blipFill>
          <a:blip r:embed="rId1"/>
          <a:stretch>
            <a:fillRect/>
          </a:stretch>
        </p:blipFill>
        <p:spPr>
          <a:xfrm>
            <a:off x="553761" y="1321857"/>
            <a:ext cx="209215" cy="209215"/>
          </a:xfrm>
          <a:prstGeom prst="rect">
            <a:avLst/>
          </a:prstGeom>
        </p:spPr>
      </p:pic>
      <p:sp>
        <p:nvSpPr>
          <p:cNvPr id="8" name="Text 5"/>
          <p:cNvSpPr txBox="1"/>
          <p:nvPr/>
        </p:nvSpPr>
        <p:spPr>
          <a:xfrm>
            <a:off x="1005840" y="1188720"/>
            <a:ext cx="466344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The vacuum is the ground state</a:t>
            </a:r>
            <a:endParaRPr lang="en-US" sz="1200" dirty="0"/>
          </a:p>
        </p:txBody>
      </p:sp>
      <p:sp>
        <p:nvSpPr>
          <p:cNvPr id="9" name="Text 6"/>
          <p:cNvSpPr txBox="1"/>
          <p:nvPr/>
        </p:nvSpPr>
        <p:spPr>
          <a:xfrm>
            <a:off x="1005840" y="1463040"/>
            <a:ext cx="466344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By definition the lowest-energy state of the field. Casimir energy is the difference with and without boundaries; the force is conservative, so whatever work it does closing the plates must be paid back to open them. Forward's 1984 'vacuum-fluctuation battery' says so in its own abstract.</a:t>
            </a:r>
            <a:endParaRPr lang="en-US" sz="950" dirty="0"/>
          </a:p>
        </p:txBody>
      </p:sp>
      <p:sp>
        <p:nvSpPr>
          <p:cNvPr id="10" name="Shape 7"/>
          <p:cNvSpPr/>
          <p:nvPr/>
        </p:nvSpPr>
        <p:spPr>
          <a:xfrm>
            <a:off x="457200" y="2249424"/>
            <a:ext cx="402336" cy="402336"/>
          </a:xfrm>
          <a:prstGeom prst="ellipse">
            <a:avLst/>
          </a:prstGeom>
          <a:solidFill>
            <a:srgbClr val="163338"/>
          </a:solidFill>
          <a:ln w="6350">
            <a:solidFill>
              <a:srgbClr val="5EEAD4"/>
            </a:solidFill>
            <a:prstDash val="solid"/>
          </a:ln>
        </p:spPr>
      </p:sp>
      <p:pic>
        <p:nvPicPr>
          <p:cNvPr id="11" name="Image 1" descr="preencoded.png">    </p:cNvPr>
          <p:cNvPicPr>
            <a:picLocks noChangeAspect="1"/>
          </p:cNvPicPr>
          <p:nvPr/>
        </p:nvPicPr>
        <p:blipFill>
          <a:blip r:embed="rId2"/>
          <a:stretch>
            <a:fillRect/>
          </a:stretch>
        </p:blipFill>
        <p:spPr>
          <a:xfrm>
            <a:off x="553761" y="2345985"/>
            <a:ext cx="209215" cy="209215"/>
          </a:xfrm>
          <a:prstGeom prst="rect">
            <a:avLst/>
          </a:prstGeom>
        </p:spPr>
      </p:pic>
      <p:sp>
        <p:nvSpPr>
          <p:cNvPr id="12" name="Text 8"/>
          <p:cNvSpPr txBox="1"/>
          <p:nvPr/>
        </p:nvSpPr>
        <p:spPr>
          <a:xfrm>
            <a:off x="1005840" y="2212848"/>
            <a:ext cx="466344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Second law and detailed balance</a:t>
            </a:r>
            <a:endParaRPr lang="en-US" sz="1200" dirty="0"/>
          </a:p>
        </p:txBody>
      </p:sp>
      <p:sp>
        <p:nvSpPr>
          <p:cNvPr id="13" name="Text 9"/>
          <p:cNvSpPr txBox="1"/>
          <p:nvPr/>
        </p:nvSpPr>
        <p:spPr>
          <a:xfrm>
            <a:off x="1005840" y="2487168"/>
            <a:ext cx="466344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A device delivering steady work from a single equilibrium reservoir is a perpetual-motion machine of the second kind. Brillouin (1950) showed a diode cannot rectify its own thermal noise; Feynman's ratchet and pawl is the mechanical version. Any nonlinear element that 'sorts' fluctuations inherits that verdict unless it shows where entropy is exported.</a:t>
            </a:r>
            <a:endParaRPr lang="en-US" sz="950" dirty="0"/>
          </a:p>
        </p:txBody>
      </p:sp>
      <p:sp>
        <p:nvSpPr>
          <p:cNvPr id="14" name="Shape 10"/>
          <p:cNvSpPr/>
          <p:nvPr/>
        </p:nvSpPr>
        <p:spPr>
          <a:xfrm>
            <a:off x="457200" y="3273552"/>
            <a:ext cx="402336" cy="402336"/>
          </a:xfrm>
          <a:prstGeom prst="ellipse">
            <a:avLst/>
          </a:prstGeom>
          <a:solidFill>
            <a:srgbClr val="163338"/>
          </a:solidFill>
          <a:ln w="6350">
            <a:solidFill>
              <a:srgbClr val="5EEAD4"/>
            </a:solidFill>
            <a:prstDash val="solid"/>
          </a:ln>
        </p:spPr>
      </p:sp>
      <p:pic>
        <p:nvPicPr>
          <p:cNvPr id="15" name="Image 2" descr="preencoded.png">    </p:cNvPr>
          <p:cNvPicPr>
            <a:picLocks noChangeAspect="1"/>
          </p:cNvPicPr>
          <p:nvPr/>
        </p:nvPicPr>
        <p:blipFill>
          <a:blip r:embed="rId3"/>
          <a:stretch>
            <a:fillRect/>
          </a:stretch>
        </p:blipFill>
        <p:spPr>
          <a:xfrm>
            <a:off x="553761" y="3370113"/>
            <a:ext cx="209215" cy="209215"/>
          </a:xfrm>
          <a:prstGeom prst="rect">
            <a:avLst/>
          </a:prstGeom>
        </p:spPr>
      </p:pic>
      <p:sp>
        <p:nvSpPr>
          <p:cNvPr id="16" name="Text 11"/>
          <p:cNvSpPr txBox="1"/>
          <p:nvPr/>
        </p:nvSpPr>
        <p:spPr>
          <a:xfrm>
            <a:off x="1005840" y="3236976"/>
            <a:ext cx="466344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The dynamical Casimir effect is not a source</a:t>
            </a:r>
            <a:endParaRPr lang="en-US" sz="1200" dirty="0"/>
          </a:p>
        </p:txBody>
      </p:sp>
      <p:sp>
        <p:nvSpPr>
          <p:cNvPr id="17" name="Text 12"/>
          <p:cNvSpPr txBox="1"/>
          <p:nvPr/>
        </p:nvSpPr>
        <p:spPr>
          <a:xfrm>
            <a:off x="1005840" y="3511296"/>
            <a:ext cx="466344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Real photons do emerge from vacuum fluctuations when a boundary is driven (Wilson et al. 2011; Lähteenmäki et al. 2013) — in pairs with ω₁ + ω₂ = ω_pump. The pump pays. It is a parametric amplifier seeded by vacuum noise.</a:t>
            </a:r>
            <a:endParaRPr lang="en-US" sz="950" dirty="0"/>
          </a:p>
        </p:txBody>
      </p:sp>
      <p:sp>
        <p:nvSpPr>
          <p:cNvPr id="18" name="Shape 13"/>
          <p:cNvSpPr/>
          <p:nvPr/>
        </p:nvSpPr>
        <p:spPr>
          <a:xfrm>
            <a:off x="5989320" y="1234440"/>
            <a:ext cx="2697480" cy="3017520"/>
          </a:xfrm>
          <a:prstGeom prst="roundRect">
            <a:avLst>
              <a:gd name="adj" fmla="val 2712"/>
            </a:avLst>
          </a:prstGeom>
          <a:solidFill>
            <a:srgbClr val="182339"/>
          </a:solidFill>
          <a:ln w="9525">
            <a:solidFill>
              <a:srgbClr val="223049"/>
            </a:solidFill>
            <a:prstDash val="solid"/>
          </a:ln>
        </p:spPr>
      </p:sp>
      <p:sp>
        <p:nvSpPr>
          <p:cNvPr id="19" name="Text 14"/>
          <p:cNvSpPr txBox="1"/>
          <p:nvPr/>
        </p:nvSpPr>
        <p:spPr>
          <a:xfrm>
            <a:off x="6217920" y="1417320"/>
            <a:ext cx="2286000" cy="1188720"/>
          </a:xfrm>
          <a:prstGeom prst="rect">
            <a:avLst/>
          </a:prstGeom>
          <a:noFill/>
          <a:ln/>
        </p:spPr>
        <p:txBody>
          <a:bodyPr wrap="square" lIns="0" tIns="0" rIns="0" bIns="0" rtlCol="0" anchor="t"/>
          <a:lstStyle/>
          <a:p>
            <a:pPr indent="0" marL="0">
              <a:buNone/>
            </a:pPr>
            <a:r>
              <a:rPr lang="en-US" sz="1700" i="1" dirty="0">
                <a:solidFill>
                  <a:srgbClr val="E6EDF5"/>
                </a:solidFill>
                <a:latin typeface="Cambria" pitchFamily="34" charset="0"/>
                <a:ea typeface="Cambria" pitchFamily="34" charset="-122"/>
                <a:cs typeface="Cambria" pitchFamily="34" charset="-120"/>
              </a:rPr>
              <a:t>“None of the proposals have been reliably demonstrated.”</a:t>
            </a:r>
            <a:endParaRPr lang="en-US" sz="1700" dirty="0"/>
          </a:p>
        </p:txBody>
      </p:sp>
      <p:sp>
        <p:nvSpPr>
          <p:cNvPr id="20" name="Text 15"/>
          <p:cNvSpPr txBox="1"/>
          <p:nvPr/>
        </p:nvSpPr>
        <p:spPr>
          <a:xfrm>
            <a:off x="6217920" y="2697480"/>
            <a:ext cx="2286000" cy="1417320"/>
          </a:xfrm>
          <a:prstGeom prst="rect">
            <a:avLst/>
          </a:prstGeom>
          <a:noFill/>
          <a:ln/>
        </p:spPr>
        <p:txBody>
          <a:bodyPr wrap="square" lIns="0" tIns="0" rIns="0" bIns="0" rtlCol="0" anchor="t"/>
          <a:lstStyle/>
          <a:p>
            <a:pPr indent="0" marL="0">
              <a:buNone/>
            </a:pPr>
            <a:r>
              <a:rPr lang="en-US" sz="950" dirty="0">
                <a:solidFill>
                  <a:srgbClr val="8FA3B8"/>
                </a:solidFill>
                <a:latin typeface="Calibri" pitchFamily="34" charset="0"/>
                <a:ea typeface="Calibri" pitchFamily="34" charset="-122"/>
                <a:cs typeface="Calibri" pitchFamily="34" charset="-120"/>
              </a:rPr>
              <a:t>— G. Moddel &amp; O. Dmitriyeva, Atoms 7, 51 (2019): a review written by proponents of vacuum-energy extraction, who also conclude that cyclic Casimir-plate schemes “cannot work” because the force is conservative.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8</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RESEARCH QUESTION, PRECISELY</a:t>
            </a:r>
            <a:endParaRPr lang="en-US" sz="950" dirty="0"/>
          </a:p>
        </p:txBody>
      </p:sp>
      <p:sp>
        <p:nvSpPr>
          <p:cNvPr id="5" name="Text 3"/>
          <p:cNvSpPr txBox="1"/>
          <p:nvPr/>
        </p:nvSpPr>
        <p:spPr>
          <a:xfrm>
            <a:off x="640080" y="1005840"/>
            <a:ext cx="7863840" cy="2011680"/>
          </a:xfrm>
          <a:prstGeom prst="rect">
            <a:avLst/>
          </a:prstGeom>
          <a:noFill/>
          <a:ln/>
        </p:spPr>
        <p:txBody>
          <a:bodyPr wrap="square" lIns="0" tIns="0" rIns="0" bIns="0" rtlCol="0" anchor="t"/>
          <a:lstStyle/>
          <a:p>
            <a:pPr indent="0" marL="0">
              <a:lnSpc>
                <a:spcPct val="112000"/>
              </a:lnSpc>
              <a:buNone/>
            </a:pPr>
            <a:r>
              <a:rPr lang="en-US" sz="2200" dirty="0">
                <a:solidFill>
                  <a:srgbClr val="E6EDF5"/>
                </a:solidFill>
                <a:latin typeface="Cambria" pitchFamily="34" charset="0"/>
                <a:ea typeface="Cambria" pitchFamily="34" charset="-122"/>
                <a:cs typeface="Cambria" pitchFamily="34" charset="-120"/>
              </a:rPr>
              <a:t>Do engineered nanostructures — Casimir cavities, metamaterial and photonic-crystal boundaries, 2D-material electrodes — produce any repeatable, artifact-free electrical output whose energy accounting cannot be closed by known sources?</a:t>
            </a:r>
            <a:endParaRPr lang="en-US" sz="2200" dirty="0"/>
          </a:p>
        </p:txBody>
      </p:sp>
      <p:sp>
        <p:nvSpPr>
          <p:cNvPr id="6" name="Text 4"/>
          <p:cNvSpPr txBox="1"/>
          <p:nvPr/>
        </p:nvSpPr>
        <p:spPr>
          <a:xfrm>
            <a:off x="640080" y="3154680"/>
            <a:ext cx="7863840" cy="1188720"/>
          </a:xfrm>
          <a:prstGeom prst="rect">
            <a:avLst/>
          </a:prstGeom>
          <a:noFill/>
          <a:ln/>
        </p:spPr>
        <p:txBody>
          <a:bodyPr wrap="square" lIns="0" tIns="0" rIns="0" bIns="0" rtlCol="0" anchor="t"/>
          <a:lstStyle/>
          <a:p>
            <a:pPr indent="0" marL="0">
              <a:buNone/>
            </a:pPr>
            <a:r>
              <a:rPr lang="en-US" sz="1250" b="1" dirty="0">
                <a:solidFill>
                  <a:srgbClr val="5EEAD4"/>
                </a:solidFill>
                <a:latin typeface="Calibri" pitchFamily="34" charset="0"/>
                <a:ea typeface="Calibri" pitchFamily="34" charset="-122"/>
                <a:cs typeface="Calibri" pitchFamily="34" charset="-120"/>
              </a:rPr>
              <a:t>Expected answer, on the mainstream prior: no. </a:t>
            </a:r>
            <a:pPr indent="0" marL="0">
              <a:buNone/>
            </a:pPr>
            <a:r>
              <a:rPr lang="en-US" sz="1250" dirty="0">
                <a:solidFill>
                  <a:srgbClr val="C9D6E3"/>
                </a:solidFill>
                <a:latin typeface="Calibri" pitchFamily="34" charset="0"/>
                <a:ea typeface="Calibri" pitchFamily="34" charset="-122"/>
                <a:cs typeface="Calibri" pitchFamily="34" charset="-120"/>
              </a:rPr>
              <a:t>EnergyWave exists to obtain that answer to a standard that survives independent review — and to publish it either way. Known sources we must exclude: thermal gradients, ambient electromagnetic pickup, chemical and contact potentials, photo-effects, stored charge.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9</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WHY NOW</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The tools to test the question now exist</a:t>
            </a:r>
            <a:endParaRPr lang="en-US" sz="2400" dirty="0"/>
          </a:p>
        </p:txBody>
      </p:sp>
      <p:sp>
        <p:nvSpPr>
          <p:cNvPr id="6" name="Shape 4"/>
          <p:cNvSpPr/>
          <p:nvPr/>
        </p:nvSpPr>
        <p:spPr>
          <a:xfrm>
            <a:off x="457200" y="1234440"/>
            <a:ext cx="3977640" cy="1417320"/>
          </a:xfrm>
          <a:prstGeom prst="roundRect">
            <a:avLst>
              <a:gd name="adj" fmla="val 5161"/>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380744"/>
            <a:ext cx="365760" cy="365760"/>
          </a:xfrm>
          <a:prstGeom prst="ellipse">
            <a:avLst/>
          </a:prstGeom>
          <a:solidFill>
            <a:srgbClr val="163338"/>
          </a:solidFill>
          <a:ln w="6350">
            <a:solidFill>
              <a:srgbClr val="5EEAD4"/>
            </a:solidFill>
            <a:prstDash val="solid"/>
          </a:ln>
        </p:spPr>
      </p:sp>
      <p:pic>
        <p:nvPicPr>
          <p:cNvPr id="8" name="Image 0" descr="preencoded.png">    </p:cNvPr>
          <p:cNvPicPr>
            <a:picLocks noChangeAspect="1"/>
          </p:cNvPicPr>
          <p:nvPr/>
        </p:nvPicPr>
        <p:blipFill>
          <a:blip r:embed="rId1"/>
          <a:stretch>
            <a:fillRect/>
          </a:stretch>
        </p:blipFill>
        <p:spPr>
          <a:xfrm>
            <a:off x="709574" y="1468526"/>
            <a:ext cx="190195" cy="190195"/>
          </a:xfrm>
          <a:prstGeom prst="rect">
            <a:avLst/>
          </a:prstGeom>
        </p:spPr>
      </p:pic>
      <p:sp>
        <p:nvSpPr>
          <p:cNvPr id="9" name="Text 6"/>
          <p:cNvSpPr txBox="1"/>
          <p:nvPr/>
        </p:nvSpPr>
        <p:spPr>
          <a:xfrm>
            <a:off x="109728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Fabrication is routine</a:t>
            </a:r>
            <a:endParaRPr lang="en-US" sz="1250" dirty="0"/>
          </a:p>
        </p:txBody>
      </p:sp>
      <p:sp>
        <p:nvSpPr>
          <p:cNvPr id="10" name="Text 7"/>
          <p:cNvSpPr txBox="1"/>
          <p:nvPr/>
        </p:nvSpPr>
        <p:spPr>
          <a:xfrm>
            <a:off x="640080" y="1801368"/>
            <a:ext cx="3611880" cy="71323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Sub-100-nm cavities, metal–insulator–metal tunnel junctions, metamaterial and photonic-crystal boundaries and 2D-material electrodes are standard work in university and foundry cleanrooms.</a:t>
            </a:r>
            <a:endParaRPr lang="en-US" sz="1000" dirty="0"/>
          </a:p>
        </p:txBody>
      </p:sp>
      <p:sp>
        <p:nvSpPr>
          <p:cNvPr id="11" name="Shape 8"/>
          <p:cNvSpPr/>
          <p:nvPr/>
        </p:nvSpPr>
        <p:spPr>
          <a:xfrm>
            <a:off x="4709160" y="1234440"/>
            <a:ext cx="3977640" cy="1417320"/>
          </a:xfrm>
          <a:prstGeom prst="roundRect">
            <a:avLst>
              <a:gd name="adj" fmla="val 5161"/>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4873752" y="138074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4961534" y="1468526"/>
            <a:ext cx="190195" cy="190195"/>
          </a:xfrm>
          <a:prstGeom prst="rect">
            <a:avLst/>
          </a:prstGeom>
        </p:spPr>
      </p:pic>
      <p:sp>
        <p:nvSpPr>
          <p:cNvPr id="14" name="Text 10"/>
          <p:cNvSpPr txBox="1"/>
          <p:nvPr/>
        </p:nvSpPr>
        <p:spPr>
          <a:xfrm>
            <a:off x="534924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Measurement is mature</a:t>
            </a:r>
            <a:endParaRPr lang="en-US" sz="1250" dirty="0"/>
          </a:p>
        </p:txBody>
      </p:sp>
      <p:sp>
        <p:nvSpPr>
          <p:cNvPr id="15" name="Text 11"/>
          <p:cNvSpPr txBox="1"/>
          <p:nvPr/>
        </p:nvSpPr>
        <p:spPr>
          <a:xfrm>
            <a:off x="4892040" y="1801368"/>
            <a:ext cx="3611880" cy="71323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Picowatt-level electrical measurement, precision calorimetry, lock-in and cryogenic techniques, and Casimir-force metrology at the 0.2% level.</a:t>
            </a:r>
            <a:endParaRPr lang="en-US" sz="1000" dirty="0"/>
          </a:p>
        </p:txBody>
      </p:sp>
      <p:sp>
        <p:nvSpPr>
          <p:cNvPr id="16" name="Shape 12"/>
          <p:cNvSpPr/>
          <p:nvPr/>
        </p:nvSpPr>
        <p:spPr>
          <a:xfrm>
            <a:off x="457200" y="2788920"/>
            <a:ext cx="3977640" cy="1417320"/>
          </a:xfrm>
          <a:prstGeom prst="roundRect">
            <a:avLst>
              <a:gd name="adj" fmla="val 5161"/>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7" name="Shape 13"/>
          <p:cNvSpPr/>
          <p:nvPr/>
        </p:nvSpPr>
        <p:spPr>
          <a:xfrm>
            <a:off x="621792" y="2935224"/>
            <a:ext cx="365760" cy="365760"/>
          </a:xfrm>
          <a:prstGeom prst="ellipse">
            <a:avLst/>
          </a:prstGeom>
          <a:solidFill>
            <a:srgbClr val="3A2E14"/>
          </a:solidFill>
          <a:ln w="6350">
            <a:solidFill>
              <a:srgbClr val="F5B942"/>
            </a:solidFill>
            <a:prstDash val="solid"/>
          </a:ln>
        </p:spPr>
      </p:sp>
      <p:pic>
        <p:nvPicPr>
          <p:cNvPr id="18" name="Image 2" descr="preencoded.png">    </p:cNvPr>
          <p:cNvPicPr>
            <a:picLocks noChangeAspect="1"/>
          </p:cNvPicPr>
          <p:nvPr/>
        </p:nvPicPr>
        <p:blipFill>
          <a:blip r:embed="rId3"/>
          <a:stretch>
            <a:fillRect/>
          </a:stretch>
        </p:blipFill>
        <p:spPr>
          <a:xfrm>
            <a:off x="709574" y="3023006"/>
            <a:ext cx="190195" cy="190195"/>
          </a:xfrm>
          <a:prstGeom prst="rect">
            <a:avLst/>
          </a:prstGeom>
        </p:spPr>
      </p:pic>
      <p:sp>
        <p:nvSpPr>
          <p:cNvPr id="19" name="Text 14"/>
          <p:cNvSpPr txBox="1"/>
          <p:nvPr/>
        </p:nvSpPr>
        <p:spPr>
          <a:xfrm>
            <a:off x="1097280" y="291693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Unsettled claims a disciplined lab can settle</a:t>
            </a:r>
            <a:endParaRPr lang="en-US" sz="1250" dirty="0"/>
          </a:p>
        </p:txBody>
      </p:sp>
      <p:sp>
        <p:nvSpPr>
          <p:cNvPr id="20" name="Text 15"/>
          <p:cNvSpPr txBox="1"/>
          <p:nvPr/>
        </p:nvSpPr>
        <p:spPr>
          <a:xfrm>
            <a:off x="640080" y="3355848"/>
            <a:ext cx="3611880" cy="71323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Moddel 2021 (1.4 pW, one lab, no replication) and the 2026 MicroSparc company claim are either artifacts or new physics. Nobody has run the independent, pre-registered replication. It is cheap and decisive.</a:t>
            </a:r>
            <a:endParaRPr lang="en-US" sz="1000" dirty="0"/>
          </a:p>
        </p:txBody>
      </p:sp>
      <p:sp>
        <p:nvSpPr>
          <p:cNvPr id="21" name="Shape 16"/>
          <p:cNvSpPr/>
          <p:nvPr/>
        </p:nvSpPr>
        <p:spPr>
          <a:xfrm>
            <a:off x="4709160" y="2788920"/>
            <a:ext cx="3977640" cy="1417320"/>
          </a:xfrm>
          <a:prstGeom prst="roundRect">
            <a:avLst>
              <a:gd name="adj" fmla="val 5161"/>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2" name="Shape 17"/>
          <p:cNvSpPr/>
          <p:nvPr/>
        </p:nvSpPr>
        <p:spPr>
          <a:xfrm>
            <a:off x="4873752" y="2935224"/>
            <a:ext cx="365760" cy="365760"/>
          </a:xfrm>
          <a:prstGeom prst="ellipse">
            <a:avLst/>
          </a:prstGeom>
          <a:solidFill>
            <a:srgbClr val="163338"/>
          </a:solidFill>
          <a:ln w="6350">
            <a:solidFill>
              <a:srgbClr val="5EEAD4"/>
            </a:solidFill>
            <a:prstDash val="solid"/>
          </a:ln>
        </p:spPr>
      </p:sp>
      <p:pic>
        <p:nvPicPr>
          <p:cNvPr id="23" name="Image 3" descr="preencoded.png">    </p:cNvPr>
          <p:cNvPicPr>
            <a:picLocks noChangeAspect="1"/>
          </p:cNvPicPr>
          <p:nvPr/>
        </p:nvPicPr>
        <p:blipFill>
          <a:blip r:embed="rId4"/>
          <a:stretch>
            <a:fillRect/>
          </a:stretch>
        </p:blipFill>
        <p:spPr>
          <a:xfrm>
            <a:off x="4961534" y="3023006"/>
            <a:ext cx="190195" cy="190195"/>
          </a:xfrm>
          <a:prstGeom prst="rect">
            <a:avLst/>
          </a:prstGeom>
        </p:spPr>
      </p:pic>
      <p:sp>
        <p:nvSpPr>
          <p:cNvPr id="24" name="Text 18"/>
          <p:cNvSpPr txBox="1"/>
          <p:nvPr/>
        </p:nvSpPr>
        <p:spPr>
          <a:xfrm>
            <a:off x="5349240" y="291693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The demand side is real</a:t>
            </a:r>
            <a:endParaRPr lang="en-US" sz="1250" dirty="0"/>
          </a:p>
        </p:txBody>
      </p:sp>
      <p:sp>
        <p:nvSpPr>
          <p:cNvPr id="25" name="Text 19"/>
          <p:cNvSpPr txBox="1"/>
          <p:nvPr/>
        </p:nvSpPr>
        <p:spPr>
          <a:xfrm>
            <a:off x="4892040" y="3355848"/>
            <a:ext cx="3611880" cy="71323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Humanoid programs at Tesla, Figure, Agility, Apptronik, Unitree and Boston Dynamics have turned energy density from an academic constraint into a product constraint.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10</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RESEARCH PLATFORM</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What the capital builds</a:t>
            </a:r>
            <a:endParaRPr lang="en-US" sz="2400" dirty="0"/>
          </a:p>
        </p:txBody>
      </p:sp>
      <p:pic>
        <p:nvPicPr>
          <p:cNvPr id="6" name="Image 0" descr="/home/claude/energywave/deck/assets/lattice.png">    </p:cNvPr>
          <p:cNvPicPr>
            <a:picLocks noChangeAspect="1"/>
          </p:cNvPicPr>
          <p:nvPr/>
        </p:nvPicPr>
        <p:blipFill>
          <a:blip r:embed="rId1">
            <a:alphaModFix amt="40000"/>
          </a:blip>
          <a:stretch>
            <a:fillRect/>
          </a:stretch>
        </p:blipFill>
        <p:spPr>
          <a:xfrm>
            <a:off x="7406640" y="0"/>
            <a:ext cx="1737360" cy="1737360"/>
          </a:xfrm>
          <a:prstGeom prst="rect">
            <a:avLst/>
          </a:prstGeom>
        </p:spPr>
      </p:pic>
      <p:sp>
        <p:nvSpPr>
          <p:cNvPr id="7" name="Shape 4"/>
          <p:cNvSpPr/>
          <p:nvPr/>
        </p:nvSpPr>
        <p:spPr>
          <a:xfrm>
            <a:off x="457200" y="1280160"/>
            <a:ext cx="2651760" cy="2331720"/>
          </a:xfrm>
          <a:prstGeom prst="roundRect">
            <a:avLst>
              <a:gd name="adj" fmla="val 3137"/>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8" name="Shape 5"/>
          <p:cNvSpPr/>
          <p:nvPr/>
        </p:nvSpPr>
        <p:spPr>
          <a:xfrm>
            <a:off x="621792" y="1426464"/>
            <a:ext cx="365760" cy="365760"/>
          </a:xfrm>
          <a:prstGeom prst="ellipse">
            <a:avLst/>
          </a:prstGeom>
          <a:solidFill>
            <a:srgbClr val="163338"/>
          </a:solidFill>
          <a:ln w="6350">
            <a:solidFill>
              <a:srgbClr val="5EEAD4"/>
            </a:solidFill>
            <a:prstDash val="solid"/>
          </a:ln>
        </p:spPr>
      </p:sp>
      <p:pic>
        <p:nvPicPr>
          <p:cNvPr id="9" name="Image 1" descr="preencoded.png">    </p:cNvPr>
          <p:cNvPicPr>
            <a:picLocks noChangeAspect="1"/>
          </p:cNvPicPr>
          <p:nvPr/>
        </p:nvPicPr>
        <p:blipFill>
          <a:blip r:embed="rId2"/>
          <a:stretch>
            <a:fillRect/>
          </a:stretch>
        </p:blipFill>
        <p:spPr>
          <a:xfrm>
            <a:off x="709574" y="1514246"/>
            <a:ext cx="190195" cy="190195"/>
          </a:xfrm>
          <a:prstGeom prst="rect">
            <a:avLst/>
          </a:prstGeom>
        </p:spPr>
      </p:pic>
      <p:sp>
        <p:nvSpPr>
          <p:cNvPr id="10" name="Text 6"/>
          <p:cNvSpPr txBox="1"/>
          <p:nvPr/>
        </p:nvSpPr>
        <p:spPr>
          <a:xfrm>
            <a:off x="1097280" y="1408176"/>
            <a:ext cx="187452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Fabrication</a:t>
            </a:r>
            <a:endParaRPr lang="en-US" sz="1250" dirty="0"/>
          </a:p>
        </p:txBody>
      </p:sp>
      <p:sp>
        <p:nvSpPr>
          <p:cNvPr id="11" name="Text 7"/>
          <p:cNvSpPr txBox="1"/>
          <p:nvPr/>
        </p:nvSpPr>
        <p:spPr>
          <a:xfrm>
            <a:off x="640080" y="1847088"/>
            <a:ext cx="2286000" cy="1627632"/>
          </a:xfrm>
          <a:prstGeom prst="rect">
            <a:avLst/>
          </a:prstGeom>
          <a:noFill/>
          <a:ln/>
        </p:spPr>
        <p:txBody>
          <a:bodyPr wrap="square" lIns="0" tIns="0" rIns="0" bIns="0" rtlCol="0" anchor="t"/>
          <a:lstStyle/>
          <a:p>
            <a:pPr indent="0" marL="0">
              <a:spcAft>
                <a:spcPts val="400"/>
              </a:spcAft>
              <a:buNone/>
            </a:pPr>
            <a:r>
              <a:rPr lang="en-US" sz="1050" dirty="0">
                <a:solidFill>
                  <a:srgbClr val="C9D6E3"/>
                </a:solidFill>
                <a:latin typeface="Calibri" pitchFamily="34" charset="0"/>
                <a:ea typeface="Calibri" pitchFamily="34" charset="-122"/>
                <a:cs typeface="Calibri" pitchFamily="34" charset="-120"/>
              </a:rPr>
              <a:t>Design and build Casimir-cavity and metamaterial test structures: in-house post-processing plus foundry and university cleanroom access. [Workbook: equipment line items]</a:t>
            </a:r>
            <a:endParaRPr lang="en-US" sz="1050" dirty="0"/>
          </a:p>
        </p:txBody>
      </p:sp>
      <p:sp>
        <p:nvSpPr>
          <p:cNvPr id="12" name="Shape 8"/>
          <p:cNvSpPr/>
          <p:nvPr/>
        </p:nvSpPr>
        <p:spPr>
          <a:xfrm>
            <a:off x="3246120" y="1280160"/>
            <a:ext cx="2651760" cy="2331720"/>
          </a:xfrm>
          <a:prstGeom prst="roundRect">
            <a:avLst>
              <a:gd name="adj" fmla="val 3137"/>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3" name="Shape 9"/>
          <p:cNvSpPr/>
          <p:nvPr/>
        </p:nvSpPr>
        <p:spPr>
          <a:xfrm>
            <a:off x="3410712" y="1426464"/>
            <a:ext cx="365760" cy="365760"/>
          </a:xfrm>
          <a:prstGeom prst="ellipse">
            <a:avLst/>
          </a:prstGeom>
          <a:solidFill>
            <a:srgbClr val="163338"/>
          </a:solidFill>
          <a:ln w="6350">
            <a:solidFill>
              <a:srgbClr val="5EEAD4"/>
            </a:solidFill>
            <a:prstDash val="solid"/>
          </a:ln>
        </p:spPr>
      </p:sp>
      <p:pic>
        <p:nvPicPr>
          <p:cNvPr id="14" name="Image 2" descr="preencoded.png">    </p:cNvPr>
          <p:cNvPicPr>
            <a:picLocks noChangeAspect="1"/>
          </p:cNvPicPr>
          <p:nvPr/>
        </p:nvPicPr>
        <p:blipFill>
          <a:blip r:embed="rId3"/>
          <a:stretch>
            <a:fillRect/>
          </a:stretch>
        </p:blipFill>
        <p:spPr>
          <a:xfrm>
            <a:off x="3498494" y="1514246"/>
            <a:ext cx="190195" cy="190195"/>
          </a:xfrm>
          <a:prstGeom prst="rect">
            <a:avLst/>
          </a:prstGeom>
        </p:spPr>
      </p:pic>
      <p:sp>
        <p:nvSpPr>
          <p:cNvPr id="15" name="Text 10"/>
          <p:cNvSpPr txBox="1"/>
          <p:nvPr/>
        </p:nvSpPr>
        <p:spPr>
          <a:xfrm>
            <a:off x="3886200" y="1408176"/>
            <a:ext cx="187452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Measurement</a:t>
            </a:r>
            <a:endParaRPr lang="en-US" sz="1250" dirty="0"/>
          </a:p>
        </p:txBody>
      </p:sp>
      <p:sp>
        <p:nvSpPr>
          <p:cNvPr id="16" name="Text 11"/>
          <p:cNvSpPr txBox="1"/>
          <p:nvPr/>
        </p:nvSpPr>
        <p:spPr>
          <a:xfrm>
            <a:off x="3429000" y="1847088"/>
            <a:ext cx="2286000" cy="1627632"/>
          </a:xfrm>
          <a:prstGeom prst="rect">
            <a:avLst/>
          </a:prstGeom>
          <a:noFill/>
          <a:ln/>
        </p:spPr>
        <p:txBody>
          <a:bodyPr wrap="square" lIns="0" tIns="0" rIns="0" bIns="0" rtlCol="0" anchor="t"/>
          <a:lstStyle/>
          <a:p>
            <a:pPr indent="0" marL="0">
              <a:spcAft>
                <a:spcPts val="400"/>
              </a:spcAft>
              <a:buNone/>
            </a:pPr>
            <a:r>
              <a:rPr lang="en-US" sz="1050" dirty="0">
                <a:solidFill>
                  <a:srgbClr val="C9D6E3"/>
                </a:solidFill>
                <a:latin typeface="Calibri" pitchFamily="34" charset="0"/>
                <a:ea typeface="Calibri" pitchFamily="34" charset="-122"/>
                <a:cs typeface="Calibri" pitchFamily="34" charset="-120"/>
              </a:rPr>
              <a:t>An artifact-exclusion bench: shielded, temperature-controlled isothermal enclosure; calorimetric energy accounting; lock-in electrical measurement to the picowatt level; blinded sample handling; open data pipeline.</a:t>
            </a:r>
            <a:endParaRPr lang="en-US" sz="1050" dirty="0"/>
          </a:p>
        </p:txBody>
      </p:sp>
      <p:sp>
        <p:nvSpPr>
          <p:cNvPr id="17" name="Shape 12"/>
          <p:cNvSpPr/>
          <p:nvPr/>
        </p:nvSpPr>
        <p:spPr>
          <a:xfrm>
            <a:off x="6035040" y="1280160"/>
            <a:ext cx="2651760" cy="2331720"/>
          </a:xfrm>
          <a:prstGeom prst="roundRect">
            <a:avLst>
              <a:gd name="adj" fmla="val 3137"/>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8" name="Shape 13"/>
          <p:cNvSpPr/>
          <p:nvPr/>
        </p:nvSpPr>
        <p:spPr>
          <a:xfrm>
            <a:off x="6199632" y="1426464"/>
            <a:ext cx="365760" cy="365760"/>
          </a:xfrm>
          <a:prstGeom prst="ellipse">
            <a:avLst/>
          </a:prstGeom>
          <a:solidFill>
            <a:srgbClr val="163338"/>
          </a:solidFill>
          <a:ln w="6350">
            <a:solidFill>
              <a:srgbClr val="5EEAD4"/>
            </a:solidFill>
            <a:prstDash val="solid"/>
          </a:ln>
        </p:spPr>
      </p:sp>
      <p:pic>
        <p:nvPicPr>
          <p:cNvPr id="19" name="Image 3" descr="preencoded.png">    </p:cNvPr>
          <p:cNvPicPr>
            <a:picLocks noChangeAspect="1"/>
          </p:cNvPicPr>
          <p:nvPr/>
        </p:nvPicPr>
        <p:blipFill>
          <a:blip r:embed="rId4"/>
          <a:stretch>
            <a:fillRect/>
          </a:stretch>
        </p:blipFill>
        <p:spPr>
          <a:xfrm>
            <a:off x="6287414" y="1514246"/>
            <a:ext cx="190195" cy="190195"/>
          </a:xfrm>
          <a:prstGeom prst="rect">
            <a:avLst/>
          </a:prstGeom>
        </p:spPr>
      </p:pic>
      <p:sp>
        <p:nvSpPr>
          <p:cNvPr id="20" name="Text 14"/>
          <p:cNvSpPr txBox="1"/>
          <p:nvPr/>
        </p:nvSpPr>
        <p:spPr>
          <a:xfrm>
            <a:off x="6675120" y="1408176"/>
            <a:ext cx="187452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Independent validation</a:t>
            </a:r>
            <a:endParaRPr lang="en-US" sz="1250" dirty="0"/>
          </a:p>
        </p:txBody>
      </p:sp>
      <p:sp>
        <p:nvSpPr>
          <p:cNvPr id="21" name="Text 15"/>
          <p:cNvSpPr txBox="1"/>
          <p:nvPr/>
        </p:nvSpPr>
        <p:spPr>
          <a:xfrm>
            <a:off x="6217920" y="1847088"/>
            <a:ext cx="2286000" cy="1627632"/>
          </a:xfrm>
          <a:prstGeom prst="rect">
            <a:avLst/>
          </a:prstGeom>
          <a:noFill/>
          <a:ln/>
        </p:spPr>
        <p:txBody>
          <a:bodyPr wrap="square" lIns="0" tIns="0" rIns="0" bIns="0" rtlCol="0" anchor="t"/>
          <a:lstStyle/>
          <a:p>
            <a:pPr indent="0" marL="0">
              <a:spcAft>
                <a:spcPts val="400"/>
              </a:spcAft>
              <a:buNone/>
            </a:pPr>
            <a:r>
              <a:rPr lang="en-US" sz="1050" dirty="0">
                <a:solidFill>
                  <a:srgbClr val="C9D6E3"/>
                </a:solidFill>
                <a:latin typeface="Calibri" pitchFamily="34" charset="0"/>
                <a:ea typeface="Calibri" pitchFamily="34" charset="-122"/>
                <a:cs typeface="Calibri" pitchFamily="34" charset="-120"/>
              </a:rPr>
              <a:t>Third-party replication at a university or national-laboratory partner budgeted into every gate; an external scientific advisory board with veto over any performance statement.</a:t>
            </a:r>
            <a:endParaRPr lang="en-US" sz="1050" dirty="0"/>
          </a:p>
        </p:txBody>
      </p:sp>
      <p:sp>
        <p:nvSpPr>
          <p:cNvPr id="22" name="Shape 16"/>
          <p:cNvSpPr/>
          <p:nvPr/>
        </p:nvSpPr>
        <p:spPr>
          <a:xfrm>
            <a:off x="457200" y="3749040"/>
            <a:ext cx="8229600" cy="868680"/>
          </a:xfrm>
          <a:prstGeom prst="roundRect">
            <a:avLst>
              <a:gd name="adj" fmla="val 6316"/>
            </a:avLst>
          </a:prstGeom>
          <a:solidFill>
            <a:srgbClr val="182339"/>
          </a:solidFill>
          <a:ln w="9525">
            <a:solidFill>
              <a:srgbClr val="223049"/>
            </a:solidFill>
            <a:prstDash val="solid"/>
          </a:ln>
        </p:spPr>
      </p:sp>
      <p:sp>
        <p:nvSpPr>
          <p:cNvPr id="23" name="Text 17"/>
          <p:cNvSpPr txBox="1"/>
          <p:nvPr/>
        </p:nvSpPr>
        <p:spPr>
          <a:xfrm>
            <a:off x="640080" y="3822192"/>
            <a:ext cx="7863840" cy="73152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Residual value if Gate 1 fails: </a:t>
            </a:r>
            <a:pPr indent="0" marL="0">
              <a:buNone/>
            </a:pPr>
            <a:r>
              <a:rPr lang="en-US" sz="1050" dirty="0">
                <a:solidFill>
                  <a:srgbClr val="C9D6E3"/>
                </a:solidFill>
                <a:latin typeface="Calibri" pitchFamily="34" charset="0"/>
                <a:ea typeface="Calibri" pitchFamily="34" charset="-122"/>
                <a:cs typeface="Calibri" pitchFamily="34" charset="-120"/>
              </a:rPr>
              <a:t>a Casimir-force engineering capability (MEMS/NEMS stiction control, nanoscale actuation and sensing — see Stange, Campbell &amp; Bishop, Physics Today 2021), the measurement platform, the team and the publications. Stated plainly; not a pivot promise.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11</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THE THREE-GATE PROGRAM</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Capital follows evidence: three gates</a:t>
            </a:r>
            <a:endParaRPr lang="en-US" sz="2400" dirty="0"/>
          </a:p>
        </p:txBody>
      </p:sp>
      <p:sp>
        <p:nvSpPr>
          <p:cNvPr id="6" name="Shape 4"/>
          <p:cNvSpPr/>
          <p:nvPr/>
        </p:nvSpPr>
        <p:spPr>
          <a:xfrm>
            <a:off x="457200" y="1234440"/>
            <a:ext cx="2651760" cy="3108960"/>
          </a:xfrm>
          <a:prstGeom prst="roundRect">
            <a:avLst>
              <a:gd name="adj" fmla="val 2759"/>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40080" y="1389888"/>
            <a:ext cx="502920" cy="502920"/>
          </a:xfrm>
          <a:prstGeom prst="ellipse">
            <a:avLst/>
          </a:prstGeom>
          <a:solidFill>
            <a:srgbClr val="163338"/>
          </a:solidFill>
          <a:ln w="12700">
            <a:solidFill>
              <a:srgbClr val="5EEAD4"/>
            </a:solidFill>
            <a:prstDash val="solid"/>
          </a:ln>
        </p:spPr>
      </p:sp>
      <p:sp>
        <p:nvSpPr>
          <p:cNvPr id="8" name="Text 6"/>
          <p:cNvSpPr txBox="1"/>
          <p:nvPr/>
        </p:nvSpPr>
        <p:spPr>
          <a:xfrm>
            <a:off x="640080" y="1389888"/>
            <a:ext cx="502920" cy="502920"/>
          </a:xfrm>
          <a:prstGeom prst="rect">
            <a:avLst/>
          </a:prstGeom>
          <a:noFill/>
          <a:ln/>
        </p:spPr>
        <p:txBody>
          <a:bodyPr wrap="square" lIns="0" tIns="0" rIns="0" bIns="0" rtlCol="0" anchor="ctr"/>
          <a:lstStyle/>
          <a:p>
            <a:pPr algn="ctr" indent="0" marL="0">
              <a:buNone/>
            </a:pPr>
            <a:r>
              <a:rPr lang="en-US" sz="2000" b="1" dirty="0">
                <a:solidFill>
                  <a:srgbClr val="5EEAD4"/>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1280160" y="1417320"/>
            <a:ext cx="1737360" cy="228600"/>
          </a:xfrm>
          <a:prstGeom prst="rect">
            <a:avLst/>
          </a:prstGeom>
          <a:noFill/>
          <a:ln/>
        </p:spPr>
        <p:txBody>
          <a:bodyPr wrap="square" lIns="0" tIns="0" rIns="0" bIns="0" rtlCol="0" anchor="ctr"/>
          <a:lstStyle/>
          <a:p>
            <a:pPr indent="0" marL="0">
              <a:buNone/>
            </a:pPr>
            <a:r>
              <a:rPr lang="en-US" sz="900" spc="200" kern="0" dirty="0">
                <a:solidFill>
                  <a:srgbClr val="5EEAD4"/>
                </a:solidFill>
                <a:latin typeface="Calibri" pitchFamily="34" charset="0"/>
                <a:ea typeface="Calibri" pitchFamily="34" charset="-122"/>
                <a:cs typeface="Calibri" pitchFamily="34" charset="-120"/>
              </a:rPr>
              <a:t>GATE 1</a:t>
            </a:r>
            <a:endParaRPr lang="en-US" sz="900" dirty="0"/>
          </a:p>
        </p:txBody>
      </p:sp>
      <p:sp>
        <p:nvSpPr>
          <p:cNvPr id="10" name="Text 8"/>
          <p:cNvSpPr txBox="1"/>
          <p:nvPr/>
        </p:nvSpPr>
        <p:spPr>
          <a:xfrm>
            <a:off x="1280160" y="1645920"/>
            <a:ext cx="1737360" cy="274320"/>
          </a:xfrm>
          <a:prstGeom prst="rect">
            <a:avLst/>
          </a:prstGeom>
          <a:noFill/>
          <a:ln/>
        </p:spPr>
        <p:txBody>
          <a:bodyPr wrap="square" lIns="0" tIns="0" rIns="0" bIns="0" rtlCol="0" anchor="ctr"/>
          <a:lstStyle/>
          <a:p>
            <a:pPr indent="0" marL="0">
              <a:buNone/>
            </a:pPr>
            <a:r>
              <a:rPr lang="en-US" sz="850" dirty="0">
                <a:solidFill>
                  <a:srgbClr val="8FA3B8"/>
                </a:solidFill>
                <a:latin typeface="Calibri" pitchFamily="34" charset="0"/>
                <a:ea typeface="Calibri" pitchFamily="34" charset="-122"/>
                <a:cs typeface="Calibri" pitchFamily="34" charset="-120"/>
              </a:rPr>
              <a:t>Months [1–12] · Tranche A $[A]M</a:t>
            </a:r>
            <a:endParaRPr lang="en-US" sz="850" dirty="0"/>
          </a:p>
        </p:txBody>
      </p:sp>
      <p:sp>
        <p:nvSpPr>
          <p:cNvPr id="11" name="Text 9"/>
          <p:cNvSpPr txBox="1"/>
          <p:nvPr/>
        </p:nvSpPr>
        <p:spPr>
          <a:xfrm>
            <a:off x="640080" y="2057400"/>
            <a:ext cx="2286000" cy="777240"/>
          </a:xfrm>
          <a:prstGeom prst="rect">
            <a:avLst/>
          </a:prstGeom>
          <a:noFill/>
          <a:ln/>
        </p:spPr>
        <p:txBody>
          <a:bodyPr wrap="square" lIns="0" tIns="0" rIns="0" bIns="0" rtlCol="0" anchor="t"/>
          <a:lstStyle/>
          <a:p>
            <a:pPr indent="0" marL="0">
              <a:buNone/>
            </a:pPr>
            <a:r>
              <a:rPr lang="en-US" sz="1300" b="1" dirty="0">
                <a:solidFill>
                  <a:srgbClr val="E6EDF5"/>
                </a:solidFill>
                <a:latin typeface="Cambria" pitchFamily="34" charset="0"/>
                <a:ea typeface="Cambria" pitchFamily="34" charset="-122"/>
                <a:cs typeface="Cambria" pitchFamily="34" charset="-120"/>
              </a:rPr>
              <a:t>Can the reported effects be reproduced — and are they artifacts?</a:t>
            </a:r>
            <a:endParaRPr lang="en-US" sz="1300" dirty="0"/>
          </a:p>
        </p:txBody>
      </p:sp>
      <p:sp>
        <p:nvSpPr>
          <p:cNvPr id="12" name="Text 10"/>
          <p:cNvSpPr txBox="1"/>
          <p:nvPr/>
        </p:nvSpPr>
        <p:spPr>
          <a:xfrm>
            <a:off x="640080" y="2880360"/>
            <a:ext cx="2286000" cy="1371600"/>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Pass: repeatable output above the fully characterized artifact floor at ≥5σ in blinded runs. Kill: nothing above the floor, or output explained by a known source.</a:t>
            </a:r>
            <a:endParaRPr lang="en-US" sz="950" dirty="0"/>
          </a:p>
        </p:txBody>
      </p:sp>
      <p:sp>
        <p:nvSpPr>
          <p:cNvPr id="13" name="Text 11"/>
          <p:cNvSpPr txBox="1"/>
          <p:nvPr/>
        </p:nvSpPr>
        <p:spPr>
          <a:xfrm>
            <a:off x="3063240" y="2560320"/>
            <a:ext cx="274320" cy="457200"/>
          </a:xfrm>
          <a:prstGeom prst="rect">
            <a:avLst/>
          </a:prstGeom>
          <a:noFill/>
          <a:ln/>
        </p:spPr>
        <p:txBody>
          <a:bodyPr wrap="square" lIns="0" tIns="0" rIns="0" bIns="0" rtlCol="0" anchor="ctr"/>
          <a:lstStyle/>
          <a:p>
            <a:pPr algn="ctr" indent="0" marL="0">
              <a:buNone/>
            </a:pPr>
            <a:r>
              <a:rPr lang="en-US" sz="2800" dirty="0">
                <a:solidFill>
                  <a:srgbClr val="5EEAD4"/>
                </a:solidFill>
                <a:latin typeface="Calibri" pitchFamily="34" charset="0"/>
                <a:ea typeface="Calibri" pitchFamily="34" charset="-122"/>
                <a:cs typeface="Calibri" pitchFamily="34" charset="-120"/>
              </a:rPr>
              <a:t>›</a:t>
            </a:r>
            <a:endParaRPr lang="en-US" sz="2800" dirty="0"/>
          </a:p>
        </p:txBody>
      </p:sp>
      <p:sp>
        <p:nvSpPr>
          <p:cNvPr id="14" name="Shape 12"/>
          <p:cNvSpPr/>
          <p:nvPr/>
        </p:nvSpPr>
        <p:spPr>
          <a:xfrm>
            <a:off x="3246120" y="1234440"/>
            <a:ext cx="2651760" cy="3108960"/>
          </a:xfrm>
          <a:prstGeom prst="roundRect">
            <a:avLst>
              <a:gd name="adj" fmla="val 2759"/>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5" name="Shape 13"/>
          <p:cNvSpPr/>
          <p:nvPr/>
        </p:nvSpPr>
        <p:spPr>
          <a:xfrm>
            <a:off x="3429000" y="1389888"/>
            <a:ext cx="502920" cy="502920"/>
          </a:xfrm>
          <a:prstGeom prst="ellipse">
            <a:avLst/>
          </a:prstGeom>
          <a:solidFill>
            <a:srgbClr val="163338"/>
          </a:solidFill>
          <a:ln w="12700">
            <a:solidFill>
              <a:srgbClr val="5EEAD4"/>
            </a:solidFill>
            <a:prstDash val="solid"/>
          </a:ln>
        </p:spPr>
      </p:sp>
      <p:sp>
        <p:nvSpPr>
          <p:cNvPr id="16" name="Text 14"/>
          <p:cNvSpPr txBox="1"/>
          <p:nvPr/>
        </p:nvSpPr>
        <p:spPr>
          <a:xfrm>
            <a:off x="3429000" y="1389888"/>
            <a:ext cx="502920" cy="502920"/>
          </a:xfrm>
          <a:prstGeom prst="rect">
            <a:avLst/>
          </a:prstGeom>
          <a:noFill/>
          <a:ln/>
        </p:spPr>
        <p:txBody>
          <a:bodyPr wrap="square" lIns="0" tIns="0" rIns="0" bIns="0" rtlCol="0" anchor="ctr"/>
          <a:lstStyle/>
          <a:p>
            <a:pPr algn="ctr" indent="0" marL="0">
              <a:buNone/>
            </a:pPr>
            <a:r>
              <a:rPr lang="en-US" sz="2000" b="1" dirty="0">
                <a:solidFill>
                  <a:srgbClr val="5EEAD4"/>
                </a:solidFill>
                <a:latin typeface="Cambria" pitchFamily="34" charset="0"/>
                <a:ea typeface="Cambria" pitchFamily="34" charset="-122"/>
                <a:cs typeface="Cambria" pitchFamily="34" charset="-120"/>
              </a:rPr>
              <a:t>2</a:t>
            </a:r>
            <a:endParaRPr lang="en-US" sz="2000" dirty="0"/>
          </a:p>
        </p:txBody>
      </p:sp>
      <p:sp>
        <p:nvSpPr>
          <p:cNvPr id="17" name="Text 15"/>
          <p:cNvSpPr txBox="1"/>
          <p:nvPr/>
        </p:nvSpPr>
        <p:spPr>
          <a:xfrm>
            <a:off x="4069080" y="1417320"/>
            <a:ext cx="1737360" cy="228600"/>
          </a:xfrm>
          <a:prstGeom prst="rect">
            <a:avLst/>
          </a:prstGeom>
          <a:noFill/>
          <a:ln/>
        </p:spPr>
        <p:txBody>
          <a:bodyPr wrap="square" lIns="0" tIns="0" rIns="0" bIns="0" rtlCol="0" anchor="ctr"/>
          <a:lstStyle/>
          <a:p>
            <a:pPr indent="0" marL="0">
              <a:buNone/>
            </a:pPr>
            <a:r>
              <a:rPr lang="en-US" sz="900" spc="200" kern="0" dirty="0">
                <a:solidFill>
                  <a:srgbClr val="5EEAD4"/>
                </a:solidFill>
                <a:latin typeface="Calibri" pitchFamily="34" charset="0"/>
                <a:ea typeface="Calibri" pitchFamily="34" charset="-122"/>
                <a:cs typeface="Calibri" pitchFamily="34" charset="-120"/>
              </a:rPr>
              <a:t>GATE 2</a:t>
            </a:r>
            <a:endParaRPr lang="en-US" sz="900" dirty="0"/>
          </a:p>
        </p:txBody>
      </p:sp>
      <p:sp>
        <p:nvSpPr>
          <p:cNvPr id="18" name="Text 16"/>
          <p:cNvSpPr txBox="1"/>
          <p:nvPr/>
        </p:nvSpPr>
        <p:spPr>
          <a:xfrm>
            <a:off x="4069080" y="1645920"/>
            <a:ext cx="1737360" cy="274320"/>
          </a:xfrm>
          <a:prstGeom prst="rect">
            <a:avLst/>
          </a:prstGeom>
          <a:noFill/>
          <a:ln/>
        </p:spPr>
        <p:txBody>
          <a:bodyPr wrap="square" lIns="0" tIns="0" rIns="0" bIns="0" rtlCol="0" anchor="ctr"/>
          <a:lstStyle/>
          <a:p>
            <a:pPr indent="0" marL="0">
              <a:buNone/>
            </a:pPr>
            <a:r>
              <a:rPr lang="en-US" sz="850" dirty="0">
                <a:solidFill>
                  <a:srgbClr val="8FA3B8"/>
                </a:solidFill>
                <a:latin typeface="Calibri" pitchFamily="34" charset="0"/>
                <a:ea typeface="Calibri" pitchFamily="34" charset="-122"/>
                <a:cs typeface="Calibri" pitchFamily="34" charset="-120"/>
              </a:rPr>
              <a:t>Months [12–24] · Tranche B $[B]M, escrowed</a:t>
            </a:r>
            <a:endParaRPr lang="en-US" sz="850" dirty="0"/>
          </a:p>
        </p:txBody>
      </p:sp>
      <p:sp>
        <p:nvSpPr>
          <p:cNvPr id="19" name="Text 17"/>
          <p:cNvSpPr txBox="1"/>
          <p:nvPr/>
        </p:nvSpPr>
        <p:spPr>
          <a:xfrm>
            <a:off x="3429000" y="2057400"/>
            <a:ext cx="2286000" cy="777240"/>
          </a:xfrm>
          <a:prstGeom prst="rect">
            <a:avLst/>
          </a:prstGeom>
          <a:noFill/>
          <a:ln/>
        </p:spPr>
        <p:txBody>
          <a:bodyPr wrap="square" lIns="0" tIns="0" rIns="0" bIns="0" rtlCol="0" anchor="t"/>
          <a:lstStyle/>
          <a:p>
            <a:pPr indent="0" marL="0">
              <a:buNone/>
            </a:pPr>
            <a:r>
              <a:rPr lang="en-US" sz="1300" b="1" dirty="0">
                <a:solidFill>
                  <a:srgbClr val="E6EDF5"/>
                </a:solidFill>
                <a:latin typeface="Cambria" pitchFamily="34" charset="0"/>
                <a:ea typeface="Cambria" pitchFamily="34" charset="-122"/>
                <a:cs typeface="Cambria" pitchFamily="34" charset="-120"/>
              </a:rPr>
              <a:t>If something is there, where does the energy come from?</a:t>
            </a:r>
            <a:endParaRPr lang="en-US" sz="1300" dirty="0"/>
          </a:p>
        </p:txBody>
      </p:sp>
      <p:sp>
        <p:nvSpPr>
          <p:cNvPr id="20" name="Text 18"/>
          <p:cNvSpPr txBox="1"/>
          <p:nvPr/>
        </p:nvSpPr>
        <p:spPr>
          <a:xfrm>
            <a:off x="3429000" y="2880360"/>
            <a:ext cx="2286000" cy="1371600"/>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Pass: net output with an energy balance that cannot be closed by known sources, replicated by a second laboratory. Kill: the balance closes, or replication fails.</a:t>
            </a:r>
            <a:endParaRPr lang="en-US" sz="950" dirty="0"/>
          </a:p>
        </p:txBody>
      </p:sp>
      <p:sp>
        <p:nvSpPr>
          <p:cNvPr id="21" name="Text 19"/>
          <p:cNvSpPr txBox="1"/>
          <p:nvPr/>
        </p:nvSpPr>
        <p:spPr>
          <a:xfrm>
            <a:off x="5852160" y="2560320"/>
            <a:ext cx="274320" cy="457200"/>
          </a:xfrm>
          <a:prstGeom prst="rect">
            <a:avLst/>
          </a:prstGeom>
          <a:noFill/>
          <a:ln/>
        </p:spPr>
        <p:txBody>
          <a:bodyPr wrap="square" lIns="0" tIns="0" rIns="0" bIns="0" rtlCol="0" anchor="ctr"/>
          <a:lstStyle/>
          <a:p>
            <a:pPr algn="ctr" indent="0" marL="0">
              <a:buNone/>
            </a:pPr>
            <a:r>
              <a:rPr lang="en-US" sz="2800" dirty="0">
                <a:solidFill>
                  <a:srgbClr val="5EEAD4"/>
                </a:solidFill>
                <a:latin typeface="Calibri" pitchFamily="34" charset="0"/>
                <a:ea typeface="Calibri" pitchFamily="34" charset="-122"/>
                <a:cs typeface="Calibri" pitchFamily="34" charset="-120"/>
              </a:rPr>
              <a:t>›</a:t>
            </a:r>
            <a:endParaRPr lang="en-US" sz="2800" dirty="0"/>
          </a:p>
        </p:txBody>
      </p:sp>
      <p:sp>
        <p:nvSpPr>
          <p:cNvPr id="22" name="Shape 20"/>
          <p:cNvSpPr/>
          <p:nvPr/>
        </p:nvSpPr>
        <p:spPr>
          <a:xfrm>
            <a:off x="6035040" y="1234440"/>
            <a:ext cx="2651760" cy="3108960"/>
          </a:xfrm>
          <a:prstGeom prst="roundRect">
            <a:avLst>
              <a:gd name="adj" fmla="val 2759"/>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3" name="Shape 21"/>
          <p:cNvSpPr/>
          <p:nvPr/>
        </p:nvSpPr>
        <p:spPr>
          <a:xfrm>
            <a:off x="6217920" y="1389888"/>
            <a:ext cx="502920" cy="502920"/>
          </a:xfrm>
          <a:prstGeom prst="ellipse">
            <a:avLst/>
          </a:prstGeom>
          <a:solidFill>
            <a:srgbClr val="163338"/>
          </a:solidFill>
          <a:ln w="12700">
            <a:solidFill>
              <a:srgbClr val="5EEAD4"/>
            </a:solidFill>
            <a:prstDash val="solid"/>
          </a:ln>
        </p:spPr>
      </p:sp>
      <p:sp>
        <p:nvSpPr>
          <p:cNvPr id="24" name="Text 22"/>
          <p:cNvSpPr txBox="1"/>
          <p:nvPr/>
        </p:nvSpPr>
        <p:spPr>
          <a:xfrm>
            <a:off x="6217920" y="1389888"/>
            <a:ext cx="502920" cy="502920"/>
          </a:xfrm>
          <a:prstGeom prst="rect">
            <a:avLst/>
          </a:prstGeom>
          <a:noFill/>
          <a:ln/>
        </p:spPr>
        <p:txBody>
          <a:bodyPr wrap="square" lIns="0" tIns="0" rIns="0" bIns="0" rtlCol="0" anchor="ctr"/>
          <a:lstStyle/>
          <a:p>
            <a:pPr algn="ctr" indent="0" marL="0">
              <a:buNone/>
            </a:pPr>
            <a:r>
              <a:rPr lang="en-US" sz="2000" b="1" dirty="0">
                <a:solidFill>
                  <a:srgbClr val="5EEAD4"/>
                </a:solidFill>
                <a:latin typeface="Cambria" pitchFamily="34" charset="0"/>
                <a:ea typeface="Cambria" pitchFamily="34" charset="-122"/>
                <a:cs typeface="Cambria" pitchFamily="34" charset="-120"/>
              </a:rPr>
              <a:t>3</a:t>
            </a:r>
            <a:endParaRPr lang="en-US" sz="2000" dirty="0"/>
          </a:p>
        </p:txBody>
      </p:sp>
      <p:sp>
        <p:nvSpPr>
          <p:cNvPr id="25" name="Text 23"/>
          <p:cNvSpPr txBox="1"/>
          <p:nvPr/>
        </p:nvSpPr>
        <p:spPr>
          <a:xfrm>
            <a:off x="6858000" y="1417320"/>
            <a:ext cx="1737360" cy="228600"/>
          </a:xfrm>
          <a:prstGeom prst="rect">
            <a:avLst/>
          </a:prstGeom>
          <a:noFill/>
          <a:ln/>
        </p:spPr>
        <p:txBody>
          <a:bodyPr wrap="square" lIns="0" tIns="0" rIns="0" bIns="0" rtlCol="0" anchor="ctr"/>
          <a:lstStyle/>
          <a:p>
            <a:pPr indent="0" marL="0">
              <a:buNone/>
            </a:pPr>
            <a:r>
              <a:rPr lang="en-US" sz="900" spc="200" kern="0" dirty="0">
                <a:solidFill>
                  <a:srgbClr val="5EEAD4"/>
                </a:solidFill>
                <a:latin typeface="Calibri" pitchFamily="34" charset="0"/>
                <a:ea typeface="Calibri" pitchFamily="34" charset="-122"/>
                <a:cs typeface="Calibri" pitchFamily="34" charset="-120"/>
              </a:rPr>
              <a:t>GATE 3</a:t>
            </a:r>
            <a:endParaRPr lang="en-US" sz="900" dirty="0"/>
          </a:p>
        </p:txBody>
      </p:sp>
      <p:sp>
        <p:nvSpPr>
          <p:cNvPr id="26" name="Text 24"/>
          <p:cNvSpPr txBox="1"/>
          <p:nvPr/>
        </p:nvSpPr>
        <p:spPr>
          <a:xfrm>
            <a:off x="6858000" y="1645920"/>
            <a:ext cx="1737360" cy="274320"/>
          </a:xfrm>
          <a:prstGeom prst="rect">
            <a:avLst/>
          </a:prstGeom>
          <a:noFill/>
          <a:ln/>
        </p:spPr>
        <p:txBody>
          <a:bodyPr wrap="square" lIns="0" tIns="0" rIns="0" bIns="0" rtlCol="0" anchor="ctr"/>
          <a:lstStyle/>
          <a:p>
            <a:pPr indent="0" marL="0">
              <a:buNone/>
            </a:pPr>
            <a:r>
              <a:rPr lang="en-US" sz="850" dirty="0">
                <a:solidFill>
                  <a:srgbClr val="8FA3B8"/>
                </a:solidFill>
                <a:latin typeface="Calibri" pitchFamily="34" charset="0"/>
                <a:ea typeface="Calibri" pitchFamily="34" charset="-122"/>
                <a:cs typeface="Calibri" pitchFamily="34" charset="-120"/>
              </a:rPr>
              <a:t>Months [24–36] · Tranche C $[C]M, escrowed</a:t>
            </a:r>
            <a:endParaRPr lang="en-US" sz="850" dirty="0"/>
          </a:p>
        </p:txBody>
      </p:sp>
      <p:sp>
        <p:nvSpPr>
          <p:cNvPr id="27" name="Text 25"/>
          <p:cNvSpPr txBox="1"/>
          <p:nvPr/>
        </p:nvSpPr>
        <p:spPr>
          <a:xfrm>
            <a:off x="6217920" y="2057400"/>
            <a:ext cx="2286000" cy="777240"/>
          </a:xfrm>
          <a:prstGeom prst="rect">
            <a:avLst/>
          </a:prstGeom>
          <a:noFill/>
          <a:ln/>
        </p:spPr>
        <p:txBody>
          <a:bodyPr wrap="square" lIns="0" tIns="0" rIns="0" bIns="0" rtlCol="0" anchor="t"/>
          <a:lstStyle/>
          <a:p>
            <a:pPr indent="0" marL="0">
              <a:buNone/>
            </a:pPr>
            <a:r>
              <a:rPr lang="en-US" sz="1300" b="1" dirty="0">
                <a:solidFill>
                  <a:srgbClr val="E6EDF5"/>
                </a:solidFill>
                <a:latin typeface="Cambria" pitchFamily="34" charset="0"/>
                <a:ea typeface="Cambria" pitchFamily="34" charset="-122"/>
                <a:cs typeface="Cambria" pitchFamily="34" charset="-120"/>
              </a:rPr>
              <a:t>Can it be engineered?</a:t>
            </a:r>
            <a:endParaRPr lang="en-US" sz="1300" dirty="0"/>
          </a:p>
        </p:txBody>
      </p:sp>
      <p:sp>
        <p:nvSpPr>
          <p:cNvPr id="28" name="Text 26"/>
          <p:cNvSpPr txBox="1"/>
          <p:nvPr/>
        </p:nvSpPr>
        <p:spPr>
          <a:xfrm>
            <a:off x="6217920" y="2880360"/>
            <a:ext cx="2286000" cy="1371600"/>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Pass: independently validated, repeatable power density on a path to a useful figure — the first point at which EnergyWave would ever state a number. Kill: scaling, lifetime or stability fails.</a:t>
            </a:r>
            <a:endParaRPr lang="en-US" sz="950" dirty="0"/>
          </a:p>
        </p:txBody>
      </p:sp>
      <p:sp>
        <p:nvSpPr>
          <p:cNvPr id="29" name="Text 27"/>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Either way, every gate ends in a written report, advisory-board certification and publication. Tranches B and C sit in escrow and are released only on a certified pass — or returned.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12</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GATE 1 IN DETAIL</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Gate 1: reproduce the strongest published claim</a:t>
            </a:r>
            <a:endParaRPr lang="en-US" sz="2400" dirty="0"/>
          </a:p>
        </p:txBody>
      </p:sp>
      <p:sp>
        <p:nvSpPr>
          <p:cNvPr id="6" name="Shape 4"/>
          <p:cNvSpPr/>
          <p:nvPr/>
        </p:nvSpPr>
        <p:spPr>
          <a:xfrm>
            <a:off x="457200" y="1234440"/>
            <a:ext cx="548640" cy="548640"/>
          </a:xfrm>
          <a:prstGeom prst="roundRect">
            <a:avLst>
              <a:gd name="adj" fmla="val 13333"/>
            </a:avLst>
          </a:prstGeom>
          <a:solidFill>
            <a:srgbClr val="163338"/>
          </a:solidFill>
          <a:ln w="9525">
            <a:solidFill>
              <a:srgbClr val="5EEAD4"/>
            </a:solidFill>
            <a:prstDash val="solid"/>
          </a:ln>
        </p:spPr>
      </p:sp>
      <p:sp>
        <p:nvSpPr>
          <p:cNvPr id="7" name="Text 5"/>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1400" b="1" dirty="0">
                <a:solidFill>
                  <a:srgbClr val="5EEAD4"/>
                </a:solidFill>
                <a:latin typeface="Cambria" pitchFamily="34" charset="0"/>
                <a:ea typeface="Cambria" pitchFamily="34" charset="-122"/>
                <a:cs typeface="Cambria" pitchFamily="34" charset="-120"/>
              </a:rPr>
              <a:t>1A</a:t>
            </a:r>
            <a:endParaRPr lang="en-US" sz="1400" dirty="0"/>
          </a:p>
        </p:txBody>
      </p:sp>
      <p:sp>
        <p:nvSpPr>
          <p:cNvPr id="8" name="Text 6"/>
          <p:cNvSpPr txBox="1"/>
          <p:nvPr/>
        </p:nvSpPr>
        <p:spPr>
          <a:xfrm>
            <a:off x="1143000" y="1216152"/>
            <a:ext cx="393192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Independent replication</a:t>
            </a:r>
            <a:endParaRPr lang="en-US" sz="1200" dirty="0"/>
          </a:p>
        </p:txBody>
      </p:sp>
      <p:sp>
        <p:nvSpPr>
          <p:cNvPr id="9" name="Text 7"/>
          <p:cNvSpPr txBox="1"/>
          <p:nvPr/>
        </p:nvSpPr>
        <p:spPr>
          <a:xfrm>
            <a:off x="1143000" y="1490472"/>
            <a:ext cx="393192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Pre-registered replication of Moddel et al. 2021 (MIM diode under a Casimir cavity), with control devices that have no cavity, sign and magnitude vs. cavity thickness, and blinded measurement.</a:t>
            </a:r>
            <a:endParaRPr lang="en-US" sz="950" dirty="0"/>
          </a:p>
        </p:txBody>
      </p:sp>
      <p:sp>
        <p:nvSpPr>
          <p:cNvPr id="10" name="Shape 8"/>
          <p:cNvSpPr/>
          <p:nvPr/>
        </p:nvSpPr>
        <p:spPr>
          <a:xfrm>
            <a:off x="457200" y="2258568"/>
            <a:ext cx="548640" cy="548640"/>
          </a:xfrm>
          <a:prstGeom prst="roundRect">
            <a:avLst>
              <a:gd name="adj" fmla="val 13333"/>
            </a:avLst>
          </a:prstGeom>
          <a:solidFill>
            <a:srgbClr val="163338"/>
          </a:solidFill>
          <a:ln w="9525">
            <a:solidFill>
              <a:srgbClr val="5EEAD4"/>
            </a:solidFill>
            <a:prstDash val="solid"/>
          </a:ln>
        </p:spPr>
      </p:sp>
      <p:sp>
        <p:nvSpPr>
          <p:cNvPr id="11" name="Text 9"/>
          <p:cNvSpPr txBox="1"/>
          <p:nvPr/>
        </p:nvSpPr>
        <p:spPr>
          <a:xfrm>
            <a:off x="457200" y="2258568"/>
            <a:ext cx="548640" cy="548640"/>
          </a:xfrm>
          <a:prstGeom prst="rect">
            <a:avLst/>
          </a:prstGeom>
          <a:noFill/>
          <a:ln/>
        </p:spPr>
        <p:txBody>
          <a:bodyPr wrap="square" lIns="0" tIns="0" rIns="0" bIns="0" rtlCol="0" anchor="ctr"/>
          <a:lstStyle/>
          <a:p>
            <a:pPr algn="ctr" indent="0" marL="0">
              <a:buNone/>
            </a:pPr>
            <a:r>
              <a:rPr lang="en-US" sz="1400" b="1" dirty="0">
                <a:solidFill>
                  <a:srgbClr val="5EEAD4"/>
                </a:solidFill>
                <a:latin typeface="Cambria" pitchFamily="34" charset="0"/>
                <a:ea typeface="Cambria" pitchFamily="34" charset="-122"/>
                <a:cs typeface="Cambria" pitchFamily="34" charset="-120"/>
              </a:rPr>
              <a:t>1B</a:t>
            </a:r>
            <a:endParaRPr lang="en-US" sz="1400" dirty="0"/>
          </a:p>
        </p:txBody>
      </p:sp>
      <p:sp>
        <p:nvSpPr>
          <p:cNvPr id="12" name="Text 10"/>
          <p:cNvSpPr txBox="1"/>
          <p:nvPr/>
        </p:nvSpPr>
        <p:spPr>
          <a:xfrm>
            <a:off x="1143000" y="2240280"/>
            <a:ext cx="393192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Commission the platform</a:t>
            </a:r>
            <a:endParaRPr lang="en-US" sz="1200" dirty="0"/>
          </a:p>
        </p:txBody>
      </p:sp>
      <p:sp>
        <p:nvSpPr>
          <p:cNvPr id="13" name="Text 11"/>
          <p:cNvSpPr txBox="1"/>
          <p:nvPr/>
        </p:nvSpPr>
        <p:spPr>
          <a:xfrm>
            <a:off x="1143000" y="2514600"/>
            <a:ext cx="393192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Demonstrate the bench's sensitivity and error budget on known-null samples. Published as a methods paper before any result is claimed.</a:t>
            </a:r>
            <a:endParaRPr lang="en-US" sz="950" dirty="0"/>
          </a:p>
        </p:txBody>
      </p:sp>
      <p:sp>
        <p:nvSpPr>
          <p:cNvPr id="14" name="Shape 12"/>
          <p:cNvSpPr/>
          <p:nvPr/>
        </p:nvSpPr>
        <p:spPr>
          <a:xfrm>
            <a:off x="457200" y="3282696"/>
            <a:ext cx="548640" cy="548640"/>
          </a:xfrm>
          <a:prstGeom prst="roundRect">
            <a:avLst>
              <a:gd name="adj" fmla="val 13333"/>
            </a:avLst>
          </a:prstGeom>
          <a:solidFill>
            <a:srgbClr val="163338"/>
          </a:solidFill>
          <a:ln w="9525">
            <a:solidFill>
              <a:srgbClr val="5EEAD4"/>
            </a:solidFill>
            <a:prstDash val="solid"/>
          </a:ln>
        </p:spPr>
      </p:sp>
      <p:sp>
        <p:nvSpPr>
          <p:cNvPr id="15" name="Text 13"/>
          <p:cNvSpPr txBox="1"/>
          <p:nvPr/>
        </p:nvSpPr>
        <p:spPr>
          <a:xfrm>
            <a:off x="457200" y="3282696"/>
            <a:ext cx="548640" cy="548640"/>
          </a:xfrm>
          <a:prstGeom prst="rect">
            <a:avLst/>
          </a:prstGeom>
          <a:noFill/>
          <a:ln/>
        </p:spPr>
        <p:txBody>
          <a:bodyPr wrap="square" lIns="0" tIns="0" rIns="0" bIns="0" rtlCol="0" anchor="ctr"/>
          <a:lstStyle/>
          <a:p>
            <a:pPr algn="ctr" indent="0" marL="0">
              <a:buNone/>
            </a:pPr>
            <a:r>
              <a:rPr lang="en-US" sz="1400" b="1" dirty="0">
                <a:solidFill>
                  <a:srgbClr val="5EEAD4"/>
                </a:solidFill>
                <a:latin typeface="Cambria" pitchFamily="34" charset="0"/>
                <a:ea typeface="Cambria" pitchFamily="34" charset="-122"/>
                <a:cs typeface="Cambria" pitchFamily="34" charset="-120"/>
              </a:rPr>
              <a:t>1C</a:t>
            </a:r>
            <a:endParaRPr lang="en-US" sz="1400" dirty="0"/>
          </a:p>
        </p:txBody>
      </p:sp>
      <p:sp>
        <p:nvSpPr>
          <p:cNvPr id="16" name="Text 14"/>
          <p:cNvSpPr txBox="1"/>
          <p:nvPr/>
        </p:nvSpPr>
        <p:spPr>
          <a:xfrm>
            <a:off x="1143000" y="3264408"/>
            <a:ext cx="393192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Our own structures</a:t>
            </a:r>
            <a:endParaRPr lang="en-US" sz="1200" dirty="0"/>
          </a:p>
        </p:txBody>
      </p:sp>
      <p:sp>
        <p:nvSpPr>
          <p:cNvPr id="17" name="Text 15"/>
          <p:cNvSpPr txBox="1"/>
          <p:nvPr/>
        </p:nvSpPr>
        <p:spPr>
          <a:xfrm>
            <a:off x="1143000" y="3538728"/>
            <a:ext cx="3931920" cy="749808"/>
          </a:xfrm>
          <a:prstGeom prst="rect">
            <a:avLst/>
          </a:prstGeom>
          <a:noFill/>
          <a:ln/>
        </p:spPr>
        <p:txBody>
          <a:bodyPr wrap="square" lIns="0" tIns="0" rIns="0" bIns="0" rtlCol="0" anchor="t"/>
          <a:lstStyle/>
          <a:p>
            <a:pPr indent="0" marL="0">
              <a:buNone/>
            </a:pPr>
            <a:r>
              <a:rPr lang="en-US" sz="950" dirty="0">
                <a:solidFill>
                  <a:srgbClr val="C9D6E3"/>
                </a:solidFill>
                <a:latin typeface="Calibri" pitchFamily="34" charset="0"/>
                <a:ea typeface="Calibri" pitchFamily="34" charset="-122"/>
                <a:cs typeface="Calibri" pitchFamily="34" charset="-120"/>
              </a:rPr>
              <a:t>Characterize EnergyWave's engineered structures [internal device concept — to be specified] under exactly the same protocol as 1A.</a:t>
            </a:r>
            <a:endParaRPr lang="en-US" sz="950" dirty="0"/>
          </a:p>
        </p:txBody>
      </p:sp>
      <p:sp>
        <p:nvSpPr>
          <p:cNvPr id="18" name="Shape 16"/>
          <p:cNvSpPr/>
          <p:nvPr/>
        </p:nvSpPr>
        <p:spPr>
          <a:xfrm>
            <a:off x="5486400" y="1234440"/>
            <a:ext cx="3200400" cy="960120"/>
          </a:xfrm>
          <a:prstGeom prst="roundRect">
            <a:avLst>
              <a:gd name="adj" fmla="val 7619"/>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9" name="Shape 17"/>
          <p:cNvSpPr/>
          <p:nvPr/>
        </p:nvSpPr>
        <p:spPr>
          <a:xfrm>
            <a:off x="5650992" y="1380744"/>
            <a:ext cx="365760" cy="365760"/>
          </a:xfrm>
          <a:prstGeom prst="ellipse">
            <a:avLst/>
          </a:prstGeom>
          <a:solidFill>
            <a:srgbClr val="163338"/>
          </a:solidFill>
          <a:ln w="6350">
            <a:solidFill>
              <a:srgbClr val="5EEAD4"/>
            </a:solidFill>
            <a:prstDash val="solid"/>
          </a:ln>
        </p:spPr>
      </p:sp>
      <p:pic>
        <p:nvPicPr>
          <p:cNvPr id="20" name="Image 0" descr="preencoded.png">    </p:cNvPr>
          <p:cNvPicPr>
            <a:picLocks noChangeAspect="1"/>
          </p:cNvPicPr>
          <p:nvPr/>
        </p:nvPicPr>
        <p:blipFill>
          <a:blip r:embed="rId1"/>
          <a:stretch>
            <a:fillRect/>
          </a:stretch>
        </p:blipFill>
        <p:spPr>
          <a:xfrm>
            <a:off x="5738774" y="1468526"/>
            <a:ext cx="190195" cy="190195"/>
          </a:xfrm>
          <a:prstGeom prst="rect">
            <a:avLst/>
          </a:prstGeom>
        </p:spPr>
      </p:pic>
      <p:sp>
        <p:nvSpPr>
          <p:cNvPr id="21" name="Text 18"/>
          <p:cNvSpPr txBox="1"/>
          <p:nvPr/>
        </p:nvSpPr>
        <p:spPr>
          <a:xfrm>
            <a:off x="6126480" y="1362456"/>
            <a:ext cx="242316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Pass</a:t>
            </a:r>
            <a:endParaRPr lang="en-US" sz="1250" dirty="0"/>
          </a:p>
        </p:txBody>
      </p:sp>
      <p:sp>
        <p:nvSpPr>
          <p:cNvPr id="22" name="Text 19"/>
          <p:cNvSpPr txBox="1"/>
          <p:nvPr/>
        </p:nvSpPr>
        <p:spPr>
          <a:xfrm>
            <a:off x="5669280" y="1801368"/>
            <a:ext cx="2834640" cy="25603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Repeatable output above the fully characterized noise and artifact floor at ≥5σ, in blinded runs, surviving every control.</a:t>
            </a:r>
            <a:endParaRPr lang="en-US" sz="950" dirty="0"/>
          </a:p>
        </p:txBody>
      </p:sp>
      <p:sp>
        <p:nvSpPr>
          <p:cNvPr id="23" name="Shape 20"/>
          <p:cNvSpPr/>
          <p:nvPr/>
        </p:nvSpPr>
        <p:spPr>
          <a:xfrm>
            <a:off x="5486400" y="2331720"/>
            <a:ext cx="3200400" cy="960120"/>
          </a:xfrm>
          <a:prstGeom prst="roundRect">
            <a:avLst>
              <a:gd name="adj" fmla="val 7619"/>
            </a:avLst>
          </a:prstGeom>
          <a:solidFill>
            <a:srgbClr val="121A2E"/>
          </a:solidFill>
          <a:ln w="9525">
            <a:solidFill>
              <a:srgbClr val="3A2E14"/>
            </a:solidFill>
            <a:prstDash val="solid"/>
          </a:ln>
          <a:effectLst>
            <a:outerShdw sx="100000" sy="100000" kx="0" ky="0" algn="bl" rotWithShape="0" blurRad="76200" dist="25400" dir="5400000">
              <a:srgbClr val="000000">
                <a:alpha val="35000"/>
              </a:srgbClr>
            </a:outerShdw>
          </a:effectLst>
        </p:spPr>
      </p:sp>
      <p:sp>
        <p:nvSpPr>
          <p:cNvPr id="24" name="Shape 21"/>
          <p:cNvSpPr/>
          <p:nvPr/>
        </p:nvSpPr>
        <p:spPr>
          <a:xfrm>
            <a:off x="5650992" y="2478024"/>
            <a:ext cx="365760" cy="365760"/>
          </a:xfrm>
          <a:prstGeom prst="ellipse">
            <a:avLst/>
          </a:prstGeom>
          <a:solidFill>
            <a:srgbClr val="3A2E14"/>
          </a:solidFill>
          <a:ln w="6350">
            <a:solidFill>
              <a:srgbClr val="F5B942"/>
            </a:solidFill>
            <a:prstDash val="solid"/>
          </a:ln>
        </p:spPr>
      </p:sp>
      <p:pic>
        <p:nvPicPr>
          <p:cNvPr id="25" name="Image 1" descr="preencoded.png">    </p:cNvPr>
          <p:cNvPicPr>
            <a:picLocks noChangeAspect="1"/>
          </p:cNvPicPr>
          <p:nvPr/>
        </p:nvPicPr>
        <p:blipFill>
          <a:blip r:embed="rId2"/>
          <a:stretch>
            <a:fillRect/>
          </a:stretch>
        </p:blipFill>
        <p:spPr>
          <a:xfrm>
            <a:off x="5738774" y="2565806"/>
            <a:ext cx="190195" cy="190195"/>
          </a:xfrm>
          <a:prstGeom prst="rect">
            <a:avLst/>
          </a:prstGeom>
        </p:spPr>
      </p:pic>
      <p:sp>
        <p:nvSpPr>
          <p:cNvPr id="26" name="Text 22"/>
          <p:cNvSpPr txBox="1"/>
          <p:nvPr/>
        </p:nvSpPr>
        <p:spPr>
          <a:xfrm>
            <a:off x="6126480" y="2459736"/>
            <a:ext cx="242316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Kill</a:t>
            </a:r>
            <a:endParaRPr lang="en-US" sz="1250" dirty="0"/>
          </a:p>
        </p:txBody>
      </p:sp>
      <p:sp>
        <p:nvSpPr>
          <p:cNvPr id="27" name="Text 23"/>
          <p:cNvSpPr txBox="1"/>
          <p:nvPr/>
        </p:nvSpPr>
        <p:spPr>
          <a:xfrm>
            <a:off x="5669280" y="2898648"/>
            <a:ext cx="2834640" cy="25603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No output above the artifact floor — or output fully explained by a known source. Program stops; unspent escrow returns; result is published.</a:t>
            </a:r>
            <a:endParaRPr lang="en-US" sz="950" dirty="0"/>
          </a:p>
        </p:txBody>
      </p:sp>
      <p:sp>
        <p:nvSpPr>
          <p:cNvPr id="28" name="Text 24"/>
          <p:cNvSpPr txBox="1"/>
          <p:nvPr/>
        </p:nvSpPr>
        <p:spPr>
          <a:xfrm>
            <a:off x="5486400" y="3456432"/>
            <a:ext cx="3200400" cy="228600"/>
          </a:xfrm>
          <a:prstGeom prst="rect">
            <a:avLst/>
          </a:prstGeom>
          <a:noFill/>
          <a:ln/>
        </p:spPr>
        <p:txBody>
          <a:bodyPr wrap="square" lIns="0" tIns="0" rIns="0" bIns="0" rtlCol="0" anchor="ctr"/>
          <a:lstStyle/>
          <a:p>
            <a:pPr indent="0" marL="0">
              <a:buNone/>
            </a:pPr>
            <a:r>
              <a:rPr lang="en-US" sz="1000" b="1" dirty="0">
                <a:solidFill>
                  <a:srgbClr val="5EEAD4"/>
                </a:solidFill>
                <a:latin typeface="Calibri" pitchFamily="34" charset="0"/>
                <a:ea typeface="Calibri" pitchFamily="34" charset="-122"/>
                <a:cs typeface="Calibri" pitchFamily="34" charset="-120"/>
              </a:rPr>
              <a:t>Artifact-exclusion checklist</a:t>
            </a:r>
            <a:endParaRPr lang="en-US" sz="1000" dirty="0"/>
          </a:p>
        </p:txBody>
      </p:sp>
      <p:sp>
        <p:nvSpPr>
          <p:cNvPr id="29" name="Text 25"/>
          <p:cNvSpPr txBox="1"/>
          <p:nvPr/>
        </p:nvSpPr>
        <p:spPr>
          <a:xfrm>
            <a:off x="5486400" y="3675888"/>
            <a:ext cx="3200400" cy="100584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C9D6E3"/>
                </a:solidFill>
                <a:latin typeface="Calibri" pitchFamily="34" charset="0"/>
                <a:ea typeface="Calibri" pitchFamily="34" charset="-122"/>
                <a:cs typeface="Calibri" pitchFamily="34" charset="-120"/>
              </a:rPr>
              <a:t>Isothermal, EM-shielded enclosure; thermal-gradient mapping</a:t>
            </a:r>
            <a:endParaRPr lang="en-US" sz="900" dirty="0"/>
          </a:p>
          <a:p>
            <a:pPr marL="152400" indent="-152400">
              <a:spcAft>
                <a:spcPts val="500"/>
              </a:spcAft>
              <a:buSzPct val="100000"/>
              <a:buChar char="•"/>
            </a:pPr>
            <a:r>
              <a:rPr lang="en-US" sz="900" dirty="0">
                <a:solidFill>
                  <a:srgbClr val="C9D6E3"/>
                </a:solidFill>
                <a:latin typeface="Calibri" pitchFamily="34" charset="0"/>
                <a:ea typeface="Calibri" pitchFamily="34" charset="-122"/>
                <a:cs typeface="Calibri" pitchFamily="34" charset="-120"/>
              </a:rPr>
              <a:t>Thermoelectric, photo-effect and leakage controls</a:t>
            </a:r>
            <a:endParaRPr lang="en-US" sz="900" dirty="0"/>
          </a:p>
          <a:p>
            <a:pPr marL="152400" indent="-152400">
              <a:spcAft>
                <a:spcPts val="500"/>
              </a:spcAft>
              <a:buSzPct val="100000"/>
              <a:buChar char="•"/>
            </a:pPr>
            <a:r>
              <a:rPr lang="en-US" sz="900" dirty="0">
                <a:solidFill>
                  <a:srgbClr val="C9D6E3"/>
                </a:solidFill>
                <a:latin typeface="Calibri" pitchFamily="34" charset="0"/>
                <a:ea typeface="Calibri" pitchFamily="34" charset="-122"/>
                <a:cs typeface="Calibri" pitchFamily="34" charset="-120"/>
              </a:rPr>
              <a:t>Contact-potential and stored-charge discharge tests</a:t>
            </a:r>
            <a:endParaRPr lang="en-US" sz="900" dirty="0"/>
          </a:p>
          <a:p>
            <a:pPr marL="152400" indent="-152400">
              <a:spcAft>
                <a:spcPts val="500"/>
              </a:spcAft>
              <a:buSzPct val="100000"/>
              <a:buChar char="•"/>
            </a:pPr>
            <a:r>
              <a:rPr lang="en-US" sz="900" dirty="0">
                <a:solidFill>
                  <a:srgbClr val="C9D6E3"/>
                </a:solidFill>
                <a:latin typeface="Calibri" pitchFamily="34" charset="0"/>
                <a:ea typeface="Calibri" pitchFamily="34" charset="-122"/>
                <a:cs typeface="Calibri" pitchFamily="34" charset="-120"/>
              </a:rPr>
              <a:t>Cavity vs. no-cavity twins from the same wafer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13</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GATES 2 AND 3</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Gates 2 and 3: accounting, then engineering</a:t>
            </a:r>
            <a:endParaRPr lang="en-US" sz="2400" dirty="0"/>
          </a:p>
        </p:txBody>
      </p:sp>
      <p:sp>
        <p:nvSpPr>
          <p:cNvPr id="6" name="Shape 4"/>
          <p:cNvSpPr/>
          <p:nvPr/>
        </p:nvSpPr>
        <p:spPr>
          <a:xfrm>
            <a:off x="457200" y="1234440"/>
            <a:ext cx="3977640" cy="3200400"/>
          </a:xfrm>
          <a:prstGeom prst="roundRect">
            <a:avLst>
              <a:gd name="adj" fmla="val 228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380744"/>
            <a:ext cx="365760" cy="365760"/>
          </a:xfrm>
          <a:prstGeom prst="ellipse">
            <a:avLst/>
          </a:prstGeom>
          <a:solidFill>
            <a:srgbClr val="163338"/>
          </a:solidFill>
          <a:ln w="6350">
            <a:solidFill>
              <a:srgbClr val="5EEAD4"/>
            </a:solidFill>
            <a:prstDash val="solid"/>
          </a:ln>
        </p:spPr>
      </p:sp>
      <p:pic>
        <p:nvPicPr>
          <p:cNvPr id="8" name="Image 0" descr="preencoded.png">    </p:cNvPr>
          <p:cNvPicPr>
            <a:picLocks noChangeAspect="1"/>
          </p:cNvPicPr>
          <p:nvPr/>
        </p:nvPicPr>
        <p:blipFill>
          <a:blip r:embed="rId1"/>
          <a:stretch>
            <a:fillRect/>
          </a:stretch>
        </p:blipFill>
        <p:spPr>
          <a:xfrm>
            <a:off x="709574" y="1468526"/>
            <a:ext cx="190195" cy="190195"/>
          </a:xfrm>
          <a:prstGeom prst="rect">
            <a:avLst/>
          </a:prstGeom>
        </p:spPr>
      </p:pic>
      <p:sp>
        <p:nvSpPr>
          <p:cNvPr id="9" name="Text 6"/>
          <p:cNvSpPr txBox="1"/>
          <p:nvPr/>
        </p:nvSpPr>
        <p:spPr>
          <a:xfrm>
            <a:off x="109728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Gate 2 — Where does the energy come from?</a:t>
            </a:r>
            <a:endParaRPr lang="en-US" sz="1250" dirty="0"/>
          </a:p>
        </p:txBody>
      </p:sp>
      <p:sp>
        <p:nvSpPr>
          <p:cNvPr id="10" name="Text 7"/>
          <p:cNvSpPr txBox="1"/>
          <p:nvPr/>
        </p:nvSpPr>
        <p:spPr>
          <a:xfrm>
            <a:off x="640080" y="1801368"/>
            <a:ext cx="3611880" cy="249631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Closed-system calorimetry: does the enclosure cool, warm or hold constant while output is drawn? Full energy balance.</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Mechanism discrimination: scaling with cavity geometry, temperature and materials; comparison against the Maclay 2024 sign prediction and against thermal-rectification models.</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Independent replication at a second laboratory — contracted before Gate 2 starts.</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Pass: net output whose balance cannot be closed by known sources, replicated externally. Kill: the balance closes, or replication fails.</a:t>
            </a:r>
            <a:endParaRPr lang="en-US" sz="1000" dirty="0"/>
          </a:p>
        </p:txBody>
      </p:sp>
      <p:sp>
        <p:nvSpPr>
          <p:cNvPr id="11" name="Shape 8"/>
          <p:cNvSpPr/>
          <p:nvPr/>
        </p:nvSpPr>
        <p:spPr>
          <a:xfrm>
            <a:off x="4709160" y="1234440"/>
            <a:ext cx="3977640" cy="3200400"/>
          </a:xfrm>
          <a:prstGeom prst="roundRect">
            <a:avLst>
              <a:gd name="adj" fmla="val 228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4873752" y="138074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4961534" y="1468526"/>
            <a:ext cx="190195" cy="190195"/>
          </a:xfrm>
          <a:prstGeom prst="rect">
            <a:avLst/>
          </a:prstGeom>
        </p:spPr>
      </p:pic>
      <p:sp>
        <p:nvSpPr>
          <p:cNvPr id="14" name="Text 10"/>
          <p:cNvSpPr txBox="1"/>
          <p:nvPr/>
        </p:nvSpPr>
        <p:spPr>
          <a:xfrm>
            <a:off x="534924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Gate 3 — Can it be engineered?</a:t>
            </a:r>
            <a:endParaRPr lang="en-US" sz="1250" dirty="0"/>
          </a:p>
        </p:txBody>
      </p:sp>
      <p:sp>
        <p:nvSpPr>
          <p:cNvPr id="15" name="Text 11"/>
          <p:cNvSpPr txBox="1"/>
          <p:nvPr/>
        </p:nvSpPr>
        <p:spPr>
          <a:xfrm>
            <a:off x="4892040" y="1801368"/>
            <a:ext cx="3611880" cy="2496312"/>
          </a:xfrm>
          <a:prstGeom prst="rect">
            <a:avLst/>
          </a:prstGeom>
          <a:noFill/>
          <a:ln/>
        </p:spPr>
        <p:txBody>
          <a:bodyPr wrap="square" lIns="0" tIns="0" rIns="0" bIns="0" rtlCol="0" anchor="t"/>
          <a:lstStyle/>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Device arrays; power-density and lifetime characterization; materials and process development.</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Third-party validation by a national laboratory or university group.</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First public performance disclosure — the first point at which EnergyWave would ever state a watt, an efficiency or a runtime.</a:t>
            </a:r>
            <a:endParaRPr lang="en-US" sz="1000" dirty="0"/>
          </a:p>
          <a:p>
            <a:pPr indent="0" marL="0">
              <a:spcAft>
                <a:spcPts val="400"/>
              </a:spcAft>
              <a:buNone/>
            </a:pPr>
            <a:endParaRPr lang="en-US" sz="1000" dirty="0"/>
          </a:p>
          <a:p>
            <a:pPr indent="0" marL="0">
              <a:spcAft>
                <a:spcPts val="400"/>
              </a:spcAft>
              <a:buNone/>
            </a:pPr>
            <a:r>
              <a:rPr lang="en-US" sz="1000" dirty="0">
                <a:solidFill>
                  <a:srgbClr val="C9D6E3"/>
                </a:solidFill>
                <a:latin typeface="Calibri" pitchFamily="34" charset="0"/>
                <a:ea typeface="Calibri" pitchFamily="34" charset="-122"/>
                <a:cs typeface="Calibri" pitchFamily="34" charset="-120"/>
              </a:rPr>
              <a:t>Pass: independently validated, repeatable power density on a path to a useful figure. Kill: scaling fails, or lifetime and stability are not achievable.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14</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GOVERNANCE AND TRANSPARENCY</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Eight commitments, written in from day one</a:t>
            </a:r>
            <a:endParaRPr lang="en-US" sz="2400" dirty="0"/>
          </a:p>
        </p:txBody>
      </p:sp>
      <p:sp>
        <p:nvSpPr>
          <p:cNvPr id="6" name="Shape 4"/>
          <p:cNvSpPr/>
          <p:nvPr/>
        </p:nvSpPr>
        <p:spPr>
          <a:xfrm>
            <a:off x="457200" y="12801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426464"/>
            <a:ext cx="365760" cy="365760"/>
          </a:xfrm>
          <a:prstGeom prst="ellipse">
            <a:avLst/>
          </a:prstGeom>
          <a:solidFill>
            <a:srgbClr val="163338"/>
          </a:solidFill>
          <a:ln w="6350">
            <a:solidFill>
              <a:srgbClr val="5EEAD4"/>
            </a:solidFill>
            <a:prstDash val="solid"/>
          </a:ln>
        </p:spPr>
      </p:sp>
      <p:pic>
        <p:nvPicPr>
          <p:cNvPr id="8" name="Image 0" descr="preencoded.png">    </p:cNvPr>
          <p:cNvPicPr>
            <a:picLocks noChangeAspect="1"/>
          </p:cNvPicPr>
          <p:nvPr/>
        </p:nvPicPr>
        <p:blipFill>
          <a:blip r:embed="rId1"/>
          <a:stretch>
            <a:fillRect/>
          </a:stretch>
        </p:blipFill>
        <p:spPr>
          <a:xfrm>
            <a:off x="709574" y="1514246"/>
            <a:ext cx="190195" cy="190195"/>
          </a:xfrm>
          <a:prstGeom prst="rect">
            <a:avLst/>
          </a:prstGeom>
        </p:spPr>
      </p:pic>
      <p:sp>
        <p:nvSpPr>
          <p:cNvPr id="9" name="Text 6"/>
          <p:cNvSpPr txBox="1"/>
          <p:nvPr/>
        </p:nvSpPr>
        <p:spPr>
          <a:xfrm>
            <a:off x="1097280" y="14081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Pre-registered protocols</a:t>
            </a:r>
            <a:endParaRPr lang="en-US" sz="1100" dirty="0"/>
          </a:p>
        </p:txBody>
      </p:sp>
      <p:sp>
        <p:nvSpPr>
          <p:cNvPr id="10" name="Text 7"/>
          <p:cNvSpPr txBox="1"/>
          <p:nvPr/>
        </p:nvSpPr>
        <p:spPr>
          <a:xfrm>
            <a:off x="640080" y="18470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Public, timestamped registration before each gate.</a:t>
            </a:r>
            <a:endParaRPr lang="en-US" sz="950" dirty="0"/>
          </a:p>
        </p:txBody>
      </p:sp>
      <p:sp>
        <p:nvSpPr>
          <p:cNvPr id="11" name="Shape 8"/>
          <p:cNvSpPr/>
          <p:nvPr/>
        </p:nvSpPr>
        <p:spPr>
          <a:xfrm>
            <a:off x="2560320" y="12801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2724912" y="142646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2812694" y="1514246"/>
            <a:ext cx="190195" cy="190195"/>
          </a:xfrm>
          <a:prstGeom prst="rect">
            <a:avLst/>
          </a:prstGeom>
        </p:spPr>
      </p:pic>
      <p:sp>
        <p:nvSpPr>
          <p:cNvPr id="14" name="Text 10"/>
          <p:cNvSpPr txBox="1"/>
          <p:nvPr/>
        </p:nvSpPr>
        <p:spPr>
          <a:xfrm>
            <a:off x="3200400" y="14081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Null results published</a:t>
            </a:r>
            <a:endParaRPr lang="en-US" sz="1100" dirty="0"/>
          </a:p>
        </p:txBody>
      </p:sp>
      <p:sp>
        <p:nvSpPr>
          <p:cNvPr id="15" name="Text 11"/>
          <p:cNvSpPr txBox="1"/>
          <p:nvPr/>
        </p:nvSpPr>
        <p:spPr>
          <a:xfrm>
            <a:off x="2743200" y="18470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With data, every time.</a:t>
            </a:r>
            <a:endParaRPr lang="en-US" sz="950" dirty="0"/>
          </a:p>
        </p:txBody>
      </p:sp>
      <p:sp>
        <p:nvSpPr>
          <p:cNvPr id="16" name="Shape 12"/>
          <p:cNvSpPr/>
          <p:nvPr/>
        </p:nvSpPr>
        <p:spPr>
          <a:xfrm>
            <a:off x="4663440" y="12801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7" name="Shape 13"/>
          <p:cNvSpPr/>
          <p:nvPr/>
        </p:nvSpPr>
        <p:spPr>
          <a:xfrm>
            <a:off x="4828032" y="1426464"/>
            <a:ext cx="365760" cy="365760"/>
          </a:xfrm>
          <a:prstGeom prst="ellipse">
            <a:avLst/>
          </a:prstGeom>
          <a:solidFill>
            <a:srgbClr val="163338"/>
          </a:solidFill>
          <a:ln w="6350">
            <a:solidFill>
              <a:srgbClr val="5EEAD4"/>
            </a:solidFill>
            <a:prstDash val="solid"/>
          </a:ln>
        </p:spPr>
      </p:sp>
      <p:pic>
        <p:nvPicPr>
          <p:cNvPr id="18" name="Image 2" descr="preencoded.png">    </p:cNvPr>
          <p:cNvPicPr>
            <a:picLocks noChangeAspect="1"/>
          </p:cNvPicPr>
          <p:nvPr/>
        </p:nvPicPr>
        <p:blipFill>
          <a:blip r:embed="rId3"/>
          <a:stretch>
            <a:fillRect/>
          </a:stretch>
        </p:blipFill>
        <p:spPr>
          <a:xfrm>
            <a:off x="4915814" y="1514246"/>
            <a:ext cx="190195" cy="190195"/>
          </a:xfrm>
          <a:prstGeom prst="rect">
            <a:avLst/>
          </a:prstGeom>
        </p:spPr>
      </p:pic>
      <p:sp>
        <p:nvSpPr>
          <p:cNvPr id="19" name="Text 14"/>
          <p:cNvSpPr txBox="1"/>
          <p:nvPr/>
        </p:nvSpPr>
        <p:spPr>
          <a:xfrm>
            <a:off x="5303520" y="14081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Replication budgeted</a:t>
            </a:r>
            <a:endParaRPr lang="en-US" sz="1100" dirty="0"/>
          </a:p>
        </p:txBody>
      </p:sp>
      <p:sp>
        <p:nvSpPr>
          <p:cNvPr id="20" name="Text 15"/>
          <p:cNvSpPr txBox="1"/>
          <p:nvPr/>
        </p:nvSpPr>
        <p:spPr>
          <a:xfrm>
            <a:off x="4846320" y="18470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Contracted in advance for every gate.</a:t>
            </a:r>
            <a:endParaRPr lang="en-US" sz="950" dirty="0"/>
          </a:p>
        </p:txBody>
      </p:sp>
      <p:sp>
        <p:nvSpPr>
          <p:cNvPr id="21" name="Shape 16"/>
          <p:cNvSpPr/>
          <p:nvPr/>
        </p:nvSpPr>
        <p:spPr>
          <a:xfrm>
            <a:off x="6766560" y="12801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2" name="Shape 17"/>
          <p:cNvSpPr/>
          <p:nvPr/>
        </p:nvSpPr>
        <p:spPr>
          <a:xfrm>
            <a:off x="6931152" y="1426464"/>
            <a:ext cx="365760" cy="365760"/>
          </a:xfrm>
          <a:prstGeom prst="ellipse">
            <a:avLst/>
          </a:prstGeom>
          <a:solidFill>
            <a:srgbClr val="163338"/>
          </a:solidFill>
          <a:ln w="6350">
            <a:solidFill>
              <a:srgbClr val="5EEAD4"/>
            </a:solidFill>
            <a:prstDash val="solid"/>
          </a:ln>
        </p:spPr>
      </p:sp>
      <p:pic>
        <p:nvPicPr>
          <p:cNvPr id="23" name="Image 3" descr="preencoded.png">    </p:cNvPr>
          <p:cNvPicPr>
            <a:picLocks noChangeAspect="1"/>
          </p:cNvPicPr>
          <p:nvPr/>
        </p:nvPicPr>
        <p:blipFill>
          <a:blip r:embed="rId4"/>
          <a:stretch>
            <a:fillRect/>
          </a:stretch>
        </p:blipFill>
        <p:spPr>
          <a:xfrm>
            <a:off x="7018934" y="1514246"/>
            <a:ext cx="190195" cy="190195"/>
          </a:xfrm>
          <a:prstGeom prst="rect">
            <a:avLst/>
          </a:prstGeom>
        </p:spPr>
      </p:pic>
      <p:sp>
        <p:nvSpPr>
          <p:cNvPr id="24" name="Text 18"/>
          <p:cNvSpPr txBox="1"/>
          <p:nvPr/>
        </p:nvSpPr>
        <p:spPr>
          <a:xfrm>
            <a:off x="7406640" y="14081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Advisory board veto</a:t>
            </a:r>
            <a:endParaRPr lang="en-US" sz="1100" dirty="0"/>
          </a:p>
        </p:txBody>
      </p:sp>
      <p:sp>
        <p:nvSpPr>
          <p:cNvPr id="25" name="Text 19"/>
          <p:cNvSpPr txBox="1"/>
          <p:nvPr/>
        </p:nvSpPr>
        <p:spPr>
          <a:xfrm>
            <a:off x="6949440" y="18470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Over any public performance statement.</a:t>
            </a:r>
            <a:endParaRPr lang="en-US" sz="950" dirty="0"/>
          </a:p>
        </p:txBody>
      </p:sp>
      <p:sp>
        <p:nvSpPr>
          <p:cNvPr id="26" name="Shape 20"/>
          <p:cNvSpPr/>
          <p:nvPr/>
        </p:nvSpPr>
        <p:spPr>
          <a:xfrm>
            <a:off x="457200" y="28803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7" name="Shape 21"/>
          <p:cNvSpPr/>
          <p:nvPr/>
        </p:nvSpPr>
        <p:spPr>
          <a:xfrm>
            <a:off x="621792" y="3026664"/>
            <a:ext cx="365760" cy="365760"/>
          </a:xfrm>
          <a:prstGeom prst="ellipse">
            <a:avLst/>
          </a:prstGeom>
          <a:solidFill>
            <a:srgbClr val="163338"/>
          </a:solidFill>
          <a:ln w="6350">
            <a:solidFill>
              <a:srgbClr val="5EEAD4"/>
            </a:solidFill>
            <a:prstDash val="solid"/>
          </a:ln>
        </p:spPr>
      </p:sp>
      <p:pic>
        <p:nvPicPr>
          <p:cNvPr id="28" name="Image 4" descr="preencoded.png">    </p:cNvPr>
          <p:cNvPicPr>
            <a:picLocks noChangeAspect="1"/>
          </p:cNvPicPr>
          <p:nvPr/>
        </p:nvPicPr>
        <p:blipFill>
          <a:blip r:embed="rId5"/>
          <a:stretch>
            <a:fillRect/>
          </a:stretch>
        </p:blipFill>
        <p:spPr>
          <a:xfrm>
            <a:off x="709574" y="3114446"/>
            <a:ext cx="190195" cy="190195"/>
          </a:xfrm>
          <a:prstGeom prst="rect">
            <a:avLst/>
          </a:prstGeom>
        </p:spPr>
      </p:pic>
      <p:sp>
        <p:nvSpPr>
          <p:cNvPr id="29" name="Text 22"/>
          <p:cNvSpPr txBox="1"/>
          <p:nvPr/>
        </p:nvSpPr>
        <p:spPr>
          <a:xfrm>
            <a:off x="1097280" y="30083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No performance claims</a:t>
            </a:r>
            <a:endParaRPr lang="en-US" sz="1100" dirty="0"/>
          </a:p>
        </p:txBody>
      </p:sp>
      <p:sp>
        <p:nvSpPr>
          <p:cNvPr id="30" name="Text 23"/>
          <p:cNvSpPr txBox="1"/>
          <p:nvPr/>
        </p:nvSpPr>
        <p:spPr>
          <a:xfrm>
            <a:off x="640080" y="34472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Until Gate 3 third-party validation.</a:t>
            </a:r>
            <a:endParaRPr lang="en-US" sz="950" dirty="0"/>
          </a:p>
        </p:txBody>
      </p:sp>
      <p:sp>
        <p:nvSpPr>
          <p:cNvPr id="31" name="Shape 24"/>
          <p:cNvSpPr/>
          <p:nvPr/>
        </p:nvSpPr>
        <p:spPr>
          <a:xfrm>
            <a:off x="2560320" y="28803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32" name="Shape 25"/>
          <p:cNvSpPr/>
          <p:nvPr/>
        </p:nvSpPr>
        <p:spPr>
          <a:xfrm>
            <a:off x="2724912" y="3026664"/>
            <a:ext cx="365760" cy="365760"/>
          </a:xfrm>
          <a:prstGeom prst="ellipse">
            <a:avLst/>
          </a:prstGeom>
          <a:solidFill>
            <a:srgbClr val="163338"/>
          </a:solidFill>
          <a:ln w="6350">
            <a:solidFill>
              <a:srgbClr val="5EEAD4"/>
            </a:solidFill>
            <a:prstDash val="solid"/>
          </a:ln>
        </p:spPr>
      </p:sp>
      <p:pic>
        <p:nvPicPr>
          <p:cNvPr id="33" name="Image 5" descr="preencoded.png">    </p:cNvPr>
          <p:cNvPicPr>
            <a:picLocks noChangeAspect="1"/>
          </p:cNvPicPr>
          <p:nvPr/>
        </p:nvPicPr>
        <p:blipFill>
          <a:blip r:embed="rId6"/>
          <a:stretch>
            <a:fillRect/>
          </a:stretch>
        </p:blipFill>
        <p:spPr>
          <a:xfrm>
            <a:off x="2812694" y="3114446"/>
            <a:ext cx="190195" cy="190195"/>
          </a:xfrm>
          <a:prstGeom prst="rect">
            <a:avLst/>
          </a:prstGeom>
        </p:spPr>
      </p:pic>
      <p:sp>
        <p:nvSpPr>
          <p:cNvPr id="34" name="Text 26"/>
          <p:cNvSpPr txBox="1"/>
          <p:nvPr/>
        </p:nvSpPr>
        <p:spPr>
          <a:xfrm>
            <a:off x="3200400" y="30083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Escrowed tranches</a:t>
            </a:r>
            <a:endParaRPr lang="en-US" sz="1100" dirty="0"/>
          </a:p>
        </p:txBody>
      </p:sp>
      <p:sp>
        <p:nvSpPr>
          <p:cNvPr id="35" name="Text 27"/>
          <p:cNvSpPr txBox="1"/>
          <p:nvPr/>
        </p:nvSpPr>
        <p:spPr>
          <a:xfrm>
            <a:off x="2743200" y="34472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Released only on certified gate reports.</a:t>
            </a:r>
            <a:endParaRPr lang="en-US" sz="950" dirty="0"/>
          </a:p>
        </p:txBody>
      </p:sp>
      <p:sp>
        <p:nvSpPr>
          <p:cNvPr id="36" name="Shape 28"/>
          <p:cNvSpPr/>
          <p:nvPr/>
        </p:nvSpPr>
        <p:spPr>
          <a:xfrm>
            <a:off x="4663440" y="28803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37" name="Shape 29"/>
          <p:cNvSpPr/>
          <p:nvPr/>
        </p:nvSpPr>
        <p:spPr>
          <a:xfrm>
            <a:off x="4828032" y="3026664"/>
            <a:ext cx="365760" cy="365760"/>
          </a:xfrm>
          <a:prstGeom prst="ellipse">
            <a:avLst/>
          </a:prstGeom>
          <a:solidFill>
            <a:srgbClr val="163338"/>
          </a:solidFill>
          <a:ln w="6350">
            <a:solidFill>
              <a:srgbClr val="5EEAD4"/>
            </a:solidFill>
            <a:prstDash val="solid"/>
          </a:ln>
        </p:spPr>
      </p:sp>
      <p:pic>
        <p:nvPicPr>
          <p:cNvPr id="38" name="Image 6" descr="preencoded.png">    </p:cNvPr>
          <p:cNvPicPr>
            <a:picLocks noChangeAspect="1"/>
          </p:cNvPicPr>
          <p:nvPr/>
        </p:nvPicPr>
        <p:blipFill>
          <a:blip r:embed="rId7"/>
          <a:stretch>
            <a:fillRect/>
          </a:stretch>
        </p:blipFill>
        <p:spPr>
          <a:xfrm>
            <a:off x="4915814" y="3114446"/>
            <a:ext cx="190195" cy="190195"/>
          </a:xfrm>
          <a:prstGeom prst="rect">
            <a:avLst/>
          </a:prstGeom>
        </p:spPr>
      </p:pic>
      <p:sp>
        <p:nvSpPr>
          <p:cNvPr id="39" name="Text 30"/>
          <p:cNvSpPr txBox="1"/>
          <p:nvPr/>
        </p:nvSpPr>
        <p:spPr>
          <a:xfrm>
            <a:off x="5303520" y="30083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Clean entity separation</a:t>
            </a:r>
            <a:endParaRPr lang="en-US" sz="1100" dirty="0"/>
          </a:p>
        </p:txBody>
      </p:sp>
      <p:sp>
        <p:nvSpPr>
          <p:cNvPr id="40" name="Text 31"/>
          <p:cNvSpPr txBox="1"/>
          <p:nvPr/>
        </p:nvSpPr>
        <p:spPr>
          <a:xfrm>
            <a:off x="4846320" y="34472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No commingling with McLean Companies or GovThink.</a:t>
            </a:r>
            <a:endParaRPr lang="en-US" sz="950" dirty="0"/>
          </a:p>
        </p:txBody>
      </p:sp>
      <p:sp>
        <p:nvSpPr>
          <p:cNvPr id="41" name="Shape 32"/>
          <p:cNvSpPr/>
          <p:nvPr/>
        </p:nvSpPr>
        <p:spPr>
          <a:xfrm>
            <a:off x="6766560" y="2880360"/>
            <a:ext cx="1965960" cy="1463040"/>
          </a:xfrm>
          <a:prstGeom prst="roundRect">
            <a:avLst>
              <a:gd name="adj" fmla="val 5000"/>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42" name="Shape 33"/>
          <p:cNvSpPr/>
          <p:nvPr/>
        </p:nvSpPr>
        <p:spPr>
          <a:xfrm>
            <a:off x="6931152" y="3026664"/>
            <a:ext cx="365760" cy="365760"/>
          </a:xfrm>
          <a:prstGeom prst="ellipse">
            <a:avLst/>
          </a:prstGeom>
          <a:solidFill>
            <a:srgbClr val="163338"/>
          </a:solidFill>
          <a:ln w="6350">
            <a:solidFill>
              <a:srgbClr val="5EEAD4"/>
            </a:solidFill>
            <a:prstDash val="solid"/>
          </a:ln>
        </p:spPr>
      </p:sp>
      <p:pic>
        <p:nvPicPr>
          <p:cNvPr id="43" name="Image 7" descr="preencoded.png">    </p:cNvPr>
          <p:cNvPicPr>
            <a:picLocks noChangeAspect="1"/>
          </p:cNvPicPr>
          <p:nvPr/>
        </p:nvPicPr>
        <p:blipFill>
          <a:blip r:embed="rId8"/>
          <a:stretch>
            <a:fillRect/>
          </a:stretch>
        </p:blipFill>
        <p:spPr>
          <a:xfrm>
            <a:off x="7018934" y="3114446"/>
            <a:ext cx="190195" cy="190195"/>
          </a:xfrm>
          <a:prstGeom prst="rect">
            <a:avLst/>
          </a:prstGeom>
        </p:spPr>
      </p:pic>
      <p:sp>
        <p:nvSpPr>
          <p:cNvPr id="44" name="Text 34"/>
          <p:cNvSpPr txBox="1"/>
          <p:nvPr/>
        </p:nvSpPr>
        <p:spPr>
          <a:xfrm>
            <a:off x="7406640" y="3008376"/>
            <a:ext cx="1188720" cy="402336"/>
          </a:xfrm>
          <a:prstGeom prst="rect">
            <a:avLst/>
          </a:prstGeom>
          <a:noFill/>
          <a:ln/>
        </p:spPr>
        <p:txBody>
          <a:bodyPr wrap="square" lIns="0" tIns="0" rIns="0" bIns="0" rtlCol="0" anchor="ctr"/>
          <a:lstStyle/>
          <a:p>
            <a:pPr indent="0" marL="0">
              <a:buNone/>
            </a:pPr>
            <a:r>
              <a:rPr lang="en-US" sz="1100" b="1" dirty="0">
                <a:solidFill>
                  <a:srgbClr val="E6EDF5"/>
                </a:solidFill>
                <a:latin typeface="Calibri" pitchFamily="34" charset="0"/>
                <a:ea typeface="Calibri" pitchFamily="34" charset="-122"/>
                <a:cs typeface="Calibri" pitchFamily="34" charset="-120"/>
              </a:rPr>
              <a:t>Open methods</a:t>
            </a:r>
            <a:endParaRPr lang="en-US" sz="1100" dirty="0"/>
          </a:p>
        </p:txBody>
      </p:sp>
      <p:sp>
        <p:nvSpPr>
          <p:cNvPr id="45" name="Text 35"/>
          <p:cNvSpPr txBox="1"/>
          <p:nvPr/>
        </p:nvSpPr>
        <p:spPr>
          <a:xfrm>
            <a:off x="6949440" y="3447288"/>
            <a:ext cx="1600200" cy="75895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Bench design and error-budget methodology published.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15</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CORPORATE STRUCTURE</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One operating company, cleanly separated</a:t>
            </a:r>
            <a:endParaRPr lang="en-US" sz="2400" dirty="0"/>
          </a:p>
        </p:txBody>
      </p:sp>
      <p:sp>
        <p:nvSpPr>
          <p:cNvPr id="6" name="Shape 4"/>
          <p:cNvSpPr/>
          <p:nvPr/>
        </p:nvSpPr>
        <p:spPr>
          <a:xfrm>
            <a:off x="3200400" y="1234440"/>
            <a:ext cx="2743200" cy="1325880"/>
          </a:xfrm>
          <a:prstGeom prst="roundRect">
            <a:avLst>
              <a:gd name="adj" fmla="val 5517"/>
            </a:avLst>
          </a:prstGeom>
          <a:solidFill>
            <a:srgbClr val="182339"/>
          </a:solidFill>
          <a:ln w="15875">
            <a:solidFill>
              <a:srgbClr val="5EEAD4"/>
            </a:solidFill>
            <a:prstDash val="solid"/>
          </a:ln>
        </p:spPr>
      </p:sp>
      <p:sp>
        <p:nvSpPr>
          <p:cNvPr id="7" name="Text 5"/>
          <p:cNvSpPr txBox="1"/>
          <p:nvPr/>
        </p:nvSpPr>
        <p:spPr>
          <a:xfrm>
            <a:off x="3337560" y="1325880"/>
            <a:ext cx="2468880" cy="274320"/>
          </a:xfrm>
          <a:prstGeom prst="rect">
            <a:avLst/>
          </a:prstGeom>
          <a:noFill/>
          <a:ln/>
        </p:spPr>
        <p:txBody>
          <a:bodyPr wrap="square" lIns="0" tIns="0" rIns="0" bIns="0" rtlCol="0" anchor="ctr"/>
          <a:lstStyle/>
          <a:p>
            <a:pPr algn="ctr" indent="0" marL="0">
              <a:buNone/>
            </a:pPr>
            <a:r>
              <a:rPr lang="en-US" sz="1150" b="1" dirty="0">
                <a:solidFill>
                  <a:srgbClr val="5EEAD4"/>
                </a:solidFill>
                <a:latin typeface="Calibri" pitchFamily="34" charset="0"/>
                <a:ea typeface="Calibri" pitchFamily="34" charset="-122"/>
                <a:cs typeface="Calibri" pitchFamily="34" charset="-120"/>
              </a:rPr>
              <a:t>EnergyWave Inc.</a:t>
            </a:r>
            <a:endParaRPr lang="en-US" sz="1150" dirty="0"/>
          </a:p>
        </p:txBody>
      </p:sp>
      <p:sp>
        <p:nvSpPr>
          <p:cNvPr id="8" name="Text 6"/>
          <p:cNvSpPr txBox="1"/>
          <p:nvPr/>
        </p:nvSpPr>
        <p:spPr>
          <a:xfrm>
            <a:off x="3337560" y="1618488"/>
            <a:ext cx="2468880" cy="868680"/>
          </a:xfrm>
          <a:prstGeom prst="rect">
            <a:avLst/>
          </a:prstGeom>
          <a:noFill/>
          <a:ln/>
        </p:spPr>
        <p:txBody>
          <a:bodyPr wrap="square" lIns="0" tIns="0" rIns="0" bIns="0" rtlCol="0" anchor="t"/>
          <a:lstStyle/>
          <a:p>
            <a:pPr algn="ctr" indent="0" marL="0">
              <a:buNone/>
            </a:pPr>
            <a:r>
              <a:rPr lang="en-US" sz="900" dirty="0">
                <a:solidFill>
                  <a:srgbClr val="C9D6E3"/>
                </a:solidFill>
                <a:latin typeface="Calibri" pitchFamily="34" charset="0"/>
                <a:ea typeface="Calibri" pitchFamily="34" charset="-122"/>
                <a:cs typeface="Calibri" pitchFamily="34" charset="-120"/>
              </a:rPr>
              <a:t>The operating company — to be formed. Holds the IP, employs the team, receives the raise. [Workbook: jurisdiction, entity type, formation status]</a:t>
            </a:r>
            <a:endParaRPr lang="en-US" sz="900" dirty="0"/>
          </a:p>
        </p:txBody>
      </p:sp>
      <p:sp>
        <p:nvSpPr>
          <p:cNvPr id="9" name="Shape 7"/>
          <p:cNvSpPr/>
          <p:nvPr/>
        </p:nvSpPr>
        <p:spPr>
          <a:xfrm>
            <a:off x="457200" y="3017520"/>
            <a:ext cx="2514600" cy="1371600"/>
          </a:xfrm>
          <a:prstGeom prst="roundRect">
            <a:avLst>
              <a:gd name="adj" fmla="val 5333"/>
            </a:avLst>
          </a:prstGeom>
          <a:solidFill>
            <a:srgbClr val="121A2E"/>
          </a:solidFill>
          <a:ln w="9525">
            <a:solidFill>
              <a:srgbClr val="223049"/>
            </a:solidFill>
            <a:prstDash val="solid"/>
          </a:ln>
        </p:spPr>
      </p:sp>
      <p:sp>
        <p:nvSpPr>
          <p:cNvPr id="10" name="Text 8"/>
          <p:cNvSpPr txBox="1"/>
          <p:nvPr/>
        </p:nvSpPr>
        <p:spPr>
          <a:xfrm>
            <a:off x="594360" y="3108960"/>
            <a:ext cx="2240280" cy="274320"/>
          </a:xfrm>
          <a:prstGeom prst="rect">
            <a:avLst/>
          </a:prstGeom>
          <a:noFill/>
          <a:ln/>
        </p:spPr>
        <p:txBody>
          <a:bodyPr wrap="square" lIns="0" tIns="0" rIns="0" bIns="0" rtlCol="0" anchor="ctr"/>
          <a:lstStyle/>
          <a:p>
            <a:pPr algn="l" indent="0" marL="0">
              <a:buNone/>
            </a:pPr>
            <a:r>
              <a:rPr lang="en-US" sz="1150" b="1" dirty="0">
                <a:solidFill>
                  <a:srgbClr val="E6EDF5"/>
                </a:solidFill>
                <a:latin typeface="Calibri" pitchFamily="34" charset="0"/>
                <a:ea typeface="Calibri" pitchFamily="34" charset="-122"/>
                <a:cs typeface="Calibri" pitchFamily="34" charset="-120"/>
              </a:rPr>
              <a:t>McLean Companies LLC</a:t>
            </a:r>
            <a:endParaRPr lang="en-US" sz="1150" dirty="0"/>
          </a:p>
        </p:txBody>
      </p:sp>
      <p:sp>
        <p:nvSpPr>
          <p:cNvPr id="11" name="Text 9"/>
          <p:cNvSpPr txBox="1"/>
          <p:nvPr/>
        </p:nvSpPr>
        <p:spPr>
          <a:xfrm>
            <a:off x="594360" y="3401568"/>
            <a:ext cx="2240280" cy="914400"/>
          </a:xfrm>
          <a:prstGeom prst="rect">
            <a:avLst/>
          </a:prstGeom>
          <a:noFill/>
          <a:ln/>
        </p:spPr>
        <p:txBody>
          <a:bodyPr wrap="square" lIns="0" tIns="0" rIns="0" bIns="0" rtlCol="0" anchor="t"/>
          <a:lstStyle/>
          <a:p>
            <a:pPr algn="l" indent="0" marL="0">
              <a:buNone/>
            </a:pPr>
            <a:r>
              <a:rPr lang="en-US" sz="900" dirty="0">
                <a:solidFill>
                  <a:srgbClr val="C9D6E3"/>
                </a:solidFill>
                <a:latin typeface="Calibri" pitchFamily="34" charset="0"/>
                <a:ea typeface="Calibri" pitchFamily="34" charset="-122"/>
                <a:cs typeface="Calibri" pitchFamily="34" charset="-120"/>
              </a:rPr>
              <a:t>Founder's operating company (Managing Partner: Ian McLean, formed 2025). Any related-party arrangement is disclosed in the data room. [Workbook: relationship]</a:t>
            </a:r>
            <a:endParaRPr lang="en-US" sz="900" dirty="0"/>
          </a:p>
        </p:txBody>
      </p:sp>
      <p:sp>
        <p:nvSpPr>
          <p:cNvPr id="12" name="Shape 10"/>
          <p:cNvSpPr/>
          <p:nvPr/>
        </p:nvSpPr>
        <p:spPr>
          <a:xfrm>
            <a:off x="3291840" y="3017520"/>
            <a:ext cx="2560320" cy="1371600"/>
          </a:xfrm>
          <a:prstGeom prst="roundRect">
            <a:avLst>
              <a:gd name="adj" fmla="val 5333"/>
            </a:avLst>
          </a:prstGeom>
          <a:solidFill>
            <a:srgbClr val="121A2E"/>
          </a:solidFill>
          <a:ln w="9525">
            <a:solidFill>
              <a:srgbClr val="223049"/>
            </a:solidFill>
            <a:prstDash val="solid"/>
          </a:ln>
        </p:spPr>
      </p:sp>
      <p:sp>
        <p:nvSpPr>
          <p:cNvPr id="13" name="Text 11"/>
          <p:cNvSpPr txBox="1"/>
          <p:nvPr/>
        </p:nvSpPr>
        <p:spPr>
          <a:xfrm>
            <a:off x="3429000" y="3108960"/>
            <a:ext cx="2286000" cy="274320"/>
          </a:xfrm>
          <a:prstGeom prst="rect">
            <a:avLst/>
          </a:prstGeom>
          <a:noFill/>
          <a:ln/>
        </p:spPr>
        <p:txBody>
          <a:bodyPr wrap="square" lIns="0" tIns="0" rIns="0" bIns="0" rtlCol="0" anchor="ctr"/>
          <a:lstStyle/>
          <a:p>
            <a:pPr algn="l" indent="0" marL="0">
              <a:buNone/>
            </a:pPr>
            <a:r>
              <a:rPr lang="en-US" sz="1150" b="1" dirty="0">
                <a:solidFill>
                  <a:srgbClr val="E6EDF5"/>
                </a:solidFill>
                <a:latin typeface="Calibri" pitchFamily="34" charset="0"/>
                <a:ea typeface="Calibri" pitchFamily="34" charset="-122"/>
                <a:cs typeface="Calibri" pitchFamily="34" charset="-120"/>
              </a:rPr>
              <a:t>GovThink (501(c)(3) initiative)</a:t>
            </a:r>
            <a:endParaRPr lang="en-US" sz="1150" dirty="0"/>
          </a:p>
        </p:txBody>
      </p:sp>
      <p:sp>
        <p:nvSpPr>
          <p:cNvPr id="14" name="Text 12"/>
          <p:cNvSpPr txBox="1"/>
          <p:nvPr/>
        </p:nvSpPr>
        <p:spPr>
          <a:xfrm>
            <a:off x="3429000" y="3401568"/>
            <a:ext cx="2286000" cy="914400"/>
          </a:xfrm>
          <a:prstGeom prst="rect">
            <a:avLst/>
          </a:prstGeom>
          <a:noFill/>
          <a:ln/>
        </p:spPr>
        <p:txBody>
          <a:bodyPr wrap="square" lIns="0" tIns="0" rIns="0" bIns="0" rtlCol="0" anchor="t"/>
          <a:lstStyle/>
          <a:p>
            <a:pPr algn="l" indent="0" marL="0">
              <a:buNone/>
            </a:pPr>
            <a:r>
              <a:rPr lang="en-US" sz="900" dirty="0">
                <a:solidFill>
                  <a:srgbClr val="C9D6E3"/>
                </a:solidFill>
                <a:latin typeface="Calibri" pitchFamily="34" charset="0"/>
                <a:ea typeface="Calibri" pitchFamily="34" charset="-122"/>
                <a:cs typeface="Calibri" pitchFamily="34" charset="-120"/>
              </a:rPr>
              <a:t>Separate think-tank initiative of the founder. No financial relationship with EnergyWave Inc. Listed for conflict disclosure only. [Workbook: status]</a:t>
            </a:r>
            <a:endParaRPr lang="en-US" sz="900" dirty="0"/>
          </a:p>
        </p:txBody>
      </p:sp>
      <p:sp>
        <p:nvSpPr>
          <p:cNvPr id="15" name="Shape 13"/>
          <p:cNvSpPr/>
          <p:nvPr/>
        </p:nvSpPr>
        <p:spPr>
          <a:xfrm>
            <a:off x="6172200" y="3017520"/>
            <a:ext cx="2514600" cy="1371600"/>
          </a:xfrm>
          <a:prstGeom prst="roundRect">
            <a:avLst>
              <a:gd name="adj" fmla="val 5333"/>
            </a:avLst>
          </a:prstGeom>
          <a:solidFill>
            <a:srgbClr val="121A2E"/>
          </a:solidFill>
          <a:ln w="9525">
            <a:solidFill>
              <a:srgbClr val="223049"/>
            </a:solidFill>
            <a:prstDash val="solid"/>
          </a:ln>
        </p:spPr>
      </p:sp>
      <p:sp>
        <p:nvSpPr>
          <p:cNvPr id="16" name="Text 14"/>
          <p:cNvSpPr txBox="1"/>
          <p:nvPr/>
        </p:nvSpPr>
        <p:spPr>
          <a:xfrm>
            <a:off x="6309360" y="3108960"/>
            <a:ext cx="2240280" cy="274320"/>
          </a:xfrm>
          <a:prstGeom prst="rect">
            <a:avLst/>
          </a:prstGeom>
          <a:noFill/>
          <a:ln/>
        </p:spPr>
        <p:txBody>
          <a:bodyPr wrap="square" lIns="0" tIns="0" rIns="0" bIns="0" rtlCol="0" anchor="ctr"/>
          <a:lstStyle/>
          <a:p>
            <a:pPr algn="l" indent="0" marL="0">
              <a:buNone/>
            </a:pPr>
            <a:r>
              <a:rPr lang="en-US" sz="1150" b="1" dirty="0">
                <a:solidFill>
                  <a:srgbClr val="E6EDF5"/>
                </a:solidFill>
                <a:latin typeface="Calibri" pitchFamily="34" charset="0"/>
                <a:ea typeface="Calibri" pitchFamily="34" charset="-122"/>
                <a:cs typeface="Calibri" pitchFamily="34" charset="-120"/>
              </a:rPr>
              <a:t>Escrow — Tranches B and C</a:t>
            </a:r>
            <a:endParaRPr lang="en-US" sz="1150" dirty="0"/>
          </a:p>
        </p:txBody>
      </p:sp>
      <p:sp>
        <p:nvSpPr>
          <p:cNvPr id="17" name="Text 15"/>
          <p:cNvSpPr txBox="1"/>
          <p:nvPr/>
        </p:nvSpPr>
        <p:spPr>
          <a:xfrm>
            <a:off x="6309360" y="3401568"/>
            <a:ext cx="2240280" cy="914400"/>
          </a:xfrm>
          <a:prstGeom prst="rect">
            <a:avLst/>
          </a:prstGeom>
          <a:noFill/>
          <a:ln/>
        </p:spPr>
        <p:txBody>
          <a:bodyPr wrap="square" lIns="0" tIns="0" rIns="0" bIns="0" rtlCol="0" anchor="t"/>
          <a:lstStyle/>
          <a:p>
            <a:pPr algn="l" indent="0" marL="0">
              <a:buNone/>
            </a:pPr>
            <a:r>
              <a:rPr lang="en-US" sz="900" dirty="0">
                <a:solidFill>
                  <a:srgbClr val="C9D6E3"/>
                </a:solidFill>
                <a:latin typeface="Calibri" pitchFamily="34" charset="0"/>
                <a:ea typeface="Calibri" pitchFamily="34" charset="-122"/>
                <a:cs typeface="Calibri" pitchFamily="34" charset="-120"/>
              </a:rPr>
              <a:t>Committed capital beyond Tranche A held by an escrow agent; released only on certified gate reports. [Workbook: agent and structure]</a:t>
            </a:r>
            <a:endParaRPr lang="en-US" sz="900" dirty="0"/>
          </a:p>
        </p:txBody>
      </p:sp>
      <p:sp>
        <p:nvSpPr>
          <p:cNvPr id="18" name="Shape 16"/>
          <p:cNvSpPr/>
          <p:nvPr/>
        </p:nvSpPr>
        <p:spPr>
          <a:xfrm>
            <a:off x="6309360" y="1234440"/>
            <a:ext cx="2377440" cy="1325880"/>
          </a:xfrm>
          <a:prstGeom prst="roundRect">
            <a:avLst>
              <a:gd name="adj" fmla="val 5517"/>
            </a:avLst>
          </a:prstGeom>
          <a:solidFill>
            <a:srgbClr val="121A2E"/>
          </a:solidFill>
          <a:ln w="9525">
            <a:solidFill>
              <a:srgbClr val="223049"/>
            </a:solidFill>
            <a:prstDash val="solid"/>
          </a:ln>
        </p:spPr>
      </p:sp>
      <p:sp>
        <p:nvSpPr>
          <p:cNvPr id="19" name="Text 17"/>
          <p:cNvSpPr txBox="1"/>
          <p:nvPr/>
        </p:nvSpPr>
        <p:spPr>
          <a:xfrm>
            <a:off x="6446520" y="1325880"/>
            <a:ext cx="2103120" cy="274320"/>
          </a:xfrm>
          <a:prstGeom prst="rect">
            <a:avLst/>
          </a:prstGeom>
          <a:noFill/>
          <a:ln/>
        </p:spPr>
        <p:txBody>
          <a:bodyPr wrap="square" lIns="0" tIns="0" rIns="0" bIns="0" rtlCol="0" anchor="ctr"/>
          <a:lstStyle/>
          <a:p>
            <a:pPr algn="l" indent="0" marL="0">
              <a:buNone/>
            </a:pPr>
            <a:r>
              <a:rPr lang="en-US" sz="1150" b="1" dirty="0">
                <a:solidFill>
                  <a:srgbClr val="E6EDF5"/>
                </a:solidFill>
                <a:latin typeface="Calibri" pitchFamily="34" charset="0"/>
                <a:ea typeface="Calibri" pitchFamily="34" charset="-122"/>
                <a:cs typeface="Calibri" pitchFamily="34" charset="-120"/>
              </a:rPr>
              <a:t>Future LLCs</a:t>
            </a:r>
            <a:endParaRPr lang="en-US" sz="1150" dirty="0"/>
          </a:p>
        </p:txBody>
      </p:sp>
      <p:sp>
        <p:nvSpPr>
          <p:cNvPr id="20" name="Text 18"/>
          <p:cNvSpPr txBox="1"/>
          <p:nvPr/>
        </p:nvSpPr>
        <p:spPr>
          <a:xfrm>
            <a:off x="6446520" y="1618488"/>
            <a:ext cx="2103120" cy="868680"/>
          </a:xfrm>
          <a:prstGeom prst="rect">
            <a:avLst/>
          </a:prstGeom>
          <a:noFill/>
          <a:ln/>
        </p:spPr>
        <p:txBody>
          <a:bodyPr wrap="square" lIns="0" tIns="0" rIns="0" bIns="0" rtlCol="0" anchor="t"/>
          <a:lstStyle/>
          <a:p>
            <a:pPr algn="l" indent="0" marL="0">
              <a:buNone/>
            </a:pPr>
            <a:r>
              <a:rPr lang="en-US" sz="900" dirty="0">
                <a:solidFill>
                  <a:srgbClr val="C9D6E3"/>
                </a:solidFill>
                <a:latin typeface="Calibri" pitchFamily="34" charset="0"/>
                <a:ea typeface="Calibri" pitchFamily="34" charset="-122"/>
                <a:cs typeface="Calibri" pitchFamily="34" charset="-120"/>
              </a:rPr>
              <a:t>Purpose per workbook (e.g., laboratory facility, IP holding). Not formed. [Workbook: purpose of each]</a:t>
            </a:r>
            <a:endParaRPr lang="en-US" sz="900" dirty="0"/>
          </a:p>
        </p:txBody>
      </p:sp>
      <p:sp>
        <p:nvSpPr>
          <p:cNvPr id="21" name="Shape 19"/>
          <p:cNvSpPr/>
          <p:nvPr/>
        </p:nvSpPr>
        <p:spPr>
          <a:xfrm>
            <a:off x="4572000" y="2560320"/>
            <a:ext cx="0" cy="457200"/>
          </a:xfrm>
          <a:prstGeom prst="line">
            <a:avLst/>
          </a:prstGeom>
          <a:noFill/>
          <a:ln w="12700">
            <a:solidFill>
              <a:srgbClr val="8FA3B8"/>
            </a:solidFill>
            <a:prstDash val="dash"/>
          </a:ln>
        </p:spPr>
      </p:sp>
      <p:sp>
        <p:nvSpPr>
          <p:cNvPr id="22" name="Shape 20"/>
          <p:cNvSpPr/>
          <p:nvPr/>
        </p:nvSpPr>
        <p:spPr>
          <a:xfrm>
            <a:off x="1737360" y="2560320"/>
            <a:ext cx="1463040" cy="0"/>
          </a:xfrm>
          <a:prstGeom prst="line">
            <a:avLst/>
          </a:prstGeom>
          <a:noFill/>
          <a:ln w="12700">
            <a:solidFill>
              <a:srgbClr val="8FA3B8"/>
            </a:solidFill>
            <a:prstDash val="dash"/>
          </a:ln>
        </p:spPr>
      </p:sp>
      <p:sp>
        <p:nvSpPr>
          <p:cNvPr id="23" name="Shape 21"/>
          <p:cNvSpPr/>
          <p:nvPr/>
        </p:nvSpPr>
        <p:spPr>
          <a:xfrm>
            <a:off x="1737360" y="2560320"/>
            <a:ext cx="0" cy="457200"/>
          </a:xfrm>
          <a:prstGeom prst="line">
            <a:avLst/>
          </a:prstGeom>
          <a:noFill/>
          <a:ln w="12700">
            <a:solidFill>
              <a:srgbClr val="8FA3B8"/>
            </a:solidFill>
            <a:prstDash val="dash"/>
          </a:ln>
        </p:spPr>
      </p:sp>
      <p:sp>
        <p:nvSpPr>
          <p:cNvPr id="24" name="Shape 22"/>
          <p:cNvSpPr/>
          <p:nvPr/>
        </p:nvSpPr>
        <p:spPr>
          <a:xfrm>
            <a:off x="5943600" y="1874520"/>
            <a:ext cx="365760" cy="0"/>
          </a:xfrm>
          <a:prstGeom prst="line">
            <a:avLst/>
          </a:prstGeom>
          <a:noFill/>
          <a:ln w="12700">
            <a:solidFill>
              <a:srgbClr val="8FA3B8"/>
            </a:solidFill>
            <a:prstDash val="dash"/>
          </a:ln>
        </p:spPr>
      </p:sp>
      <p:sp>
        <p:nvSpPr>
          <p:cNvPr id="25" name="Shape 23"/>
          <p:cNvSpPr/>
          <p:nvPr/>
        </p:nvSpPr>
        <p:spPr>
          <a:xfrm>
            <a:off x="7406640" y="2560320"/>
            <a:ext cx="0" cy="457200"/>
          </a:xfrm>
          <a:prstGeom prst="line">
            <a:avLst/>
          </a:prstGeom>
          <a:noFill/>
          <a:ln w="12700">
            <a:solidFill>
              <a:srgbClr val="8FA3B8"/>
            </a:solidFill>
            <a:prstDash val="dash"/>
          </a:ln>
        </p:spPr>
      </p:sp>
      <p:sp>
        <p:nvSpPr>
          <p:cNvPr id="26" name="Text 24"/>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850" dirty="0">
                <a:solidFill>
                  <a:srgbClr val="8FA3B8"/>
                </a:solidFill>
                <a:latin typeface="Calibri" pitchFamily="34" charset="0"/>
                <a:ea typeface="Calibri" pitchFamily="34" charset="-122"/>
                <a:cs typeface="Calibri" pitchFamily="34" charset="-120"/>
              </a:rPr>
              <a:t>Counsel: K&amp;L Gates (Irvine). Dashed lines denote disclosure relationships, not ownership — confirm every line against the workbook's corporate-structure sheet before external use.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16</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TEAM</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Founder, principal investigator, advisory board</a:t>
            </a:r>
            <a:endParaRPr lang="en-US" sz="2400" dirty="0"/>
          </a:p>
        </p:txBody>
      </p:sp>
      <p:sp>
        <p:nvSpPr>
          <p:cNvPr id="6" name="Shape 4"/>
          <p:cNvSpPr/>
          <p:nvPr/>
        </p:nvSpPr>
        <p:spPr>
          <a:xfrm>
            <a:off x="457200" y="1234440"/>
            <a:ext cx="3977640" cy="1874520"/>
          </a:xfrm>
          <a:prstGeom prst="roundRect">
            <a:avLst>
              <a:gd name="adj" fmla="val 3902"/>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380744"/>
            <a:ext cx="365760" cy="365760"/>
          </a:xfrm>
          <a:prstGeom prst="ellipse">
            <a:avLst/>
          </a:prstGeom>
          <a:solidFill>
            <a:srgbClr val="163338"/>
          </a:solidFill>
          <a:ln w="6350">
            <a:solidFill>
              <a:srgbClr val="5EEAD4"/>
            </a:solidFill>
            <a:prstDash val="solid"/>
          </a:ln>
        </p:spPr>
      </p:sp>
      <p:pic>
        <p:nvPicPr>
          <p:cNvPr id="8" name="Image 0" descr="preencoded.png">    </p:cNvPr>
          <p:cNvPicPr>
            <a:picLocks noChangeAspect="1"/>
          </p:cNvPicPr>
          <p:nvPr/>
        </p:nvPicPr>
        <p:blipFill>
          <a:blip r:embed="rId1"/>
          <a:stretch>
            <a:fillRect/>
          </a:stretch>
        </p:blipFill>
        <p:spPr>
          <a:xfrm>
            <a:off x="709574" y="1468526"/>
            <a:ext cx="190195" cy="190195"/>
          </a:xfrm>
          <a:prstGeom prst="rect">
            <a:avLst/>
          </a:prstGeom>
        </p:spPr>
      </p:pic>
      <p:sp>
        <p:nvSpPr>
          <p:cNvPr id="9" name="Text 6"/>
          <p:cNvSpPr txBox="1"/>
          <p:nvPr/>
        </p:nvSpPr>
        <p:spPr>
          <a:xfrm>
            <a:off x="109728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Ian McLean — Founder</a:t>
            </a:r>
            <a:endParaRPr lang="en-US" sz="1250" dirty="0"/>
          </a:p>
        </p:txBody>
      </p:sp>
      <p:sp>
        <p:nvSpPr>
          <p:cNvPr id="10" name="Text 7"/>
          <p:cNvSpPr txBox="1"/>
          <p:nvPr/>
        </p:nvSpPr>
        <p:spPr>
          <a:xfrm>
            <a:off x="640080" y="1801368"/>
            <a:ext cx="3611880" cy="117043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Founded EnergyWave in January 2024. M.S. in Computer Science with quantum-computing coursework; background spanning technology, mortgage automation and business development; consumer-platform and federal financial-regulatory work (2008); electronics-industry experience at Avnet; author of a DoD white paper. Managing Partner, McLean Companies LLC (luxury-asset brokerage, venture development, real estate and project management). Prior international operating experience.</a:t>
            </a:r>
            <a:endParaRPr lang="en-US" sz="950" dirty="0"/>
          </a:p>
        </p:txBody>
      </p:sp>
      <p:sp>
        <p:nvSpPr>
          <p:cNvPr id="11" name="Shape 8"/>
          <p:cNvSpPr/>
          <p:nvPr/>
        </p:nvSpPr>
        <p:spPr>
          <a:xfrm>
            <a:off x="4709160" y="1234440"/>
            <a:ext cx="3977640" cy="1874520"/>
          </a:xfrm>
          <a:prstGeom prst="roundRect">
            <a:avLst>
              <a:gd name="adj" fmla="val 3902"/>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4873752" y="138074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4961534" y="1468526"/>
            <a:ext cx="190195" cy="190195"/>
          </a:xfrm>
          <a:prstGeom prst="rect">
            <a:avLst/>
          </a:prstGeom>
        </p:spPr>
      </p:pic>
      <p:sp>
        <p:nvSpPr>
          <p:cNvPr id="14" name="Text 10"/>
          <p:cNvSpPr txBox="1"/>
          <p:nvPr/>
        </p:nvSpPr>
        <p:spPr>
          <a:xfrm>
            <a:off x="5349240" y="1362456"/>
            <a:ext cx="3200400" cy="402336"/>
          </a:xfrm>
          <a:prstGeom prst="rect">
            <a:avLst/>
          </a:prstGeom>
          <a:noFill/>
          <a:ln/>
        </p:spPr>
        <p:txBody>
          <a:bodyPr wrap="square" lIns="0" tIns="0" rIns="0" bIns="0" rtlCol="0" anchor="ctr"/>
          <a:lstStyle/>
          <a:p>
            <a:pPr indent="0" marL="0">
              <a:buNone/>
            </a:pPr>
            <a:r>
              <a:rPr lang="en-US" sz="1250" b="1" dirty="0">
                <a:solidFill>
                  <a:srgbClr val="E6EDF5"/>
                </a:solidFill>
                <a:latin typeface="Calibri" pitchFamily="34" charset="0"/>
                <a:ea typeface="Calibri" pitchFamily="34" charset="-122"/>
                <a:cs typeface="Calibri" pitchFamily="34" charset="-120"/>
              </a:rPr>
              <a:t>External Scientific Advisory Board — to recruit</a:t>
            </a:r>
            <a:endParaRPr lang="en-US" sz="1250" dirty="0"/>
          </a:p>
        </p:txBody>
      </p:sp>
      <p:sp>
        <p:nvSpPr>
          <p:cNvPr id="15" name="Text 11"/>
          <p:cNvSpPr txBox="1"/>
          <p:nvPr/>
        </p:nvSpPr>
        <p:spPr>
          <a:xfrm>
            <a:off x="4892040" y="1801368"/>
            <a:ext cx="3611880" cy="1170432"/>
          </a:xfrm>
          <a:prstGeom prst="rect">
            <a:avLst/>
          </a:prstGeom>
          <a:noFill/>
          <a:ln/>
        </p:spPr>
        <p:txBody>
          <a:bodyPr wrap="square" lIns="0" tIns="0" rIns="0" bIns="0" rtlCol="0" anchor="t"/>
          <a:lstStyle/>
          <a:p>
            <a:pPr indent="0" marL="0">
              <a:spcAft>
                <a:spcPts val="400"/>
              </a:spcAft>
              <a:buNone/>
            </a:pPr>
            <a:r>
              <a:rPr lang="en-US" sz="950" dirty="0">
                <a:solidFill>
                  <a:srgbClr val="C9D6E3"/>
                </a:solidFill>
                <a:latin typeface="Calibri" pitchFamily="34" charset="0"/>
                <a:ea typeface="Calibri" pitchFamily="34" charset="-122"/>
                <a:cs typeface="Calibri" pitchFamily="34" charset="-120"/>
              </a:rPr>
              <a:t>Three to five independent physicists, at least one with a published critical position on vacuum-energy claims. Veto over any public performance statement; certifies each gate report. [Workbook: bios and credential-verification tracker]</a:t>
            </a:r>
            <a:endParaRPr lang="en-US" sz="950" dirty="0"/>
          </a:p>
        </p:txBody>
      </p:sp>
      <p:sp>
        <p:nvSpPr>
          <p:cNvPr id="16" name="Shape 12"/>
          <p:cNvSpPr/>
          <p:nvPr/>
        </p:nvSpPr>
        <p:spPr>
          <a:xfrm>
            <a:off x="457200" y="3246120"/>
            <a:ext cx="1965960" cy="1371600"/>
          </a:xfrm>
          <a:prstGeom prst="roundRect">
            <a:avLst>
              <a:gd name="adj" fmla="val 5333"/>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7" name="Shape 13"/>
          <p:cNvSpPr/>
          <p:nvPr/>
        </p:nvSpPr>
        <p:spPr>
          <a:xfrm>
            <a:off x="621792" y="3392424"/>
            <a:ext cx="365760" cy="365760"/>
          </a:xfrm>
          <a:prstGeom prst="ellipse">
            <a:avLst/>
          </a:prstGeom>
          <a:solidFill>
            <a:srgbClr val="163338"/>
          </a:solidFill>
          <a:ln w="6350">
            <a:solidFill>
              <a:srgbClr val="5EEAD4"/>
            </a:solidFill>
            <a:prstDash val="solid"/>
          </a:ln>
        </p:spPr>
      </p:sp>
      <p:pic>
        <p:nvPicPr>
          <p:cNvPr id="18" name="Image 2" descr="preencoded.png">    </p:cNvPr>
          <p:cNvPicPr>
            <a:picLocks noChangeAspect="1"/>
          </p:cNvPicPr>
          <p:nvPr/>
        </p:nvPicPr>
        <p:blipFill>
          <a:blip r:embed="rId3"/>
          <a:stretch>
            <a:fillRect/>
          </a:stretch>
        </p:blipFill>
        <p:spPr>
          <a:xfrm>
            <a:off x="709574" y="3480206"/>
            <a:ext cx="190195" cy="190195"/>
          </a:xfrm>
          <a:prstGeom prst="rect">
            <a:avLst/>
          </a:prstGeom>
        </p:spPr>
      </p:pic>
      <p:sp>
        <p:nvSpPr>
          <p:cNvPr id="19" name="Text 14"/>
          <p:cNvSpPr txBox="1"/>
          <p:nvPr/>
        </p:nvSpPr>
        <p:spPr>
          <a:xfrm>
            <a:off x="1097280" y="3374136"/>
            <a:ext cx="1188720" cy="402336"/>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Principal Investigator</a:t>
            </a:r>
            <a:endParaRPr lang="en-US" sz="1050" dirty="0"/>
          </a:p>
        </p:txBody>
      </p:sp>
      <p:sp>
        <p:nvSpPr>
          <p:cNvPr id="20" name="Text 15"/>
          <p:cNvSpPr txBox="1"/>
          <p:nvPr/>
        </p:nvSpPr>
        <p:spPr>
          <a:xfrm>
            <a:off x="640080" y="3813048"/>
            <a:ext cx="1600200" cy="667512"/>
          </a:xfrm>
          <a:prstGeom prst="rect">
            <a:avLst/>
          </a:prstGeom>
          <a:noFill/>
          <a:ln/>
        </p:spPr>
        <p:txBody>
          <a:bodyPr wrap="square" lIns="0" tIns="0" rIns="0" bIns="0" rtlCol="0" anchor="t"/>
          <a:lstStyle/>
          <a:p>
            <a:pPr indent="0" marL="0">
              <a:spcAft>
                <a:spcPts val="400"/>
              </a:spcAft>
              <a:buNone/>
            </a:pPr>
            <a:r>
              <a:rPr lang="en-US" sz="850" dirty="0">
                <a:solidFill>
                  <a:srgbClr val="C9D6E3"/>
                </a:solidFill>
                <a:latin typeface="Calibri" pitchFamily="34" charset="0"/>
                <a:ea typeface="Calibri" pitchFamily="34" charset="-122"/>
                <a:cs typeface="Calibri" pitchFamily="34" charset="-120"/>
              </a:rPr>
              <a:t>Experimental condensed-matter or quantum-optics physicist with Casimir-force or MIM-device measurement experience. Tranche A condition. [Workbook: start, comp]</a:t>
            </a:r>
            <a:endParaRPr lang="en-US" sz="850" dirty="0"/>
          </a:p>
        </p:txBody>
      </p:sp>
      <p:sp>
        <p:nvSpPr>
          <p:cNvPr id="21" name="Shape 16"/>
          <p:cNvSpPr/>
          <p:nvPr/>
        </p:nvSpPr>
        <p:spPr>
          <a:xfrm>
            <a:off x="2560320" y="3246120"/>
            <a:ext cx="1965960" cy="1371600"/>
          </a:xfrm>
          <a:prstGeom prst="roundRect">
            <a:avLst>
              <a:gd name="adj" fmla="val 5333"/>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2" name="Shape 17"/>
          <p:cNvSpPr/>
          <p:nvPr/>
        </p:nvSpPr>
        <p:spPr>
          <a:xfrm>
            <a:off x="2724912" y="3392424"/>
            <a:ext cx="365760" cy="365760"/>
          </a:xfrm>
          <a:prstGeom prst="ellipse">
            <a:avLst/>
          </a:prstGeom>
          <a:solidFill>
            <a:srgbClr val="163338"/>
          </a:solidFill>
          <a:ln w="6350">
            <a:solidFill>
              <a:srgbClr val="5EEAD4"/>
            </a:solidFill>
            <a:prstDash val="solid"/>
          </a:ln>
        </p:spPr>
      </p:sp>
      <p:pic>
        <p:nvPicPr>
          <p:cNvPr id="23" name="Image 3" descr="preencoded.png">    </p:cNvPr>
          <p:cNvPicPr>
            <a:picLocks noChangeAspect="1"/>
          </p:cNvPicPr>
          <p:nvPr/>
        </p:nvPicPr>
        <p:blipFill>
          <a:blip r:embed="rId4"/>
          <a:stretch>
            <a:fillRect/>
          </a:stretch>
        </p:blipFill>
        <p:spPr>
          <a:xfrm>
            <a:off x="2812694" y="3480206"/>
            <a:ext cx="190195" cy="190195"/>
          </a:xfrm>
          <a:prstGeom prst="rect">
            <a:avLst/>
          </a:prstGeom>
        </p:spPr>
      </p:pic>
      <p:sp>
        <p:nvSpPr>
          <p:cNvPr id="24" name="Text 18"/>
          <p:cNvSpPr txBox="1"/>
          <p:nvPr/>
        </p:nvSpPr>
        <p:spPr>
          <a:xfrm>
            <a:off x="3200400" y="3374136"/>
            <a:ext cx="1188720" cy="402336"/>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Nanofabrication Engineer</a:t>
            </a:r>
            <a:endParaRPr lang="en-US" sz="1050" dirty="0"/>
          </a:p>
        </p:txBody>
      </p:sp>
      <p:sp>
        <p:nvSpPr>
          <p:cNvPr id="25" name="Text 19"/>
          <p:cNvSpPr txBox="1"/>
          <p:nvPr/>
        </p:nvSpPr>
        <p:spPr>
          <a:xfrm>
            <a:off x="2743200" y="3813048"/>
            <a:ext cx="1600200" cy="667512"/>
          </a:xfrm>
          <a:prstGeom prst="rect">
            <a:avLst/>
          </a:prstGeom>
          <a:noFill/>
          <a:ln/>
        </p:spPr>
        <p:txBody>
          <a:bodyPr wrap="square" lIns="0" tIns="0" rIns="0" bIns="0" rtlCol="0" anchor="t"/>
          <a:lstStyle/>
          <a:p>
            <a:pPr indent="0" marL="0">
              <a:spcAft>
                <a:spcPts val="400"/>
              </a:spcAft>
              <a:buNone/>
            </a:pPr>
            <a:r>
              <a:rPr lang="en-US" sz="850" dirty="0">
                <a:solidFill>
                  <a:srgbClr val="C9D6E3"/>
                </a:solidFill>
                <a:latin typeface="Calibri" pitchFamily="34" charset="0"/>
                <a:ea typeface="Calibri" pitchFamily="34" charset="-122"/>
                <a:cs typeface="Calibri" pitchFamily="34" charset="-120"/>
              </a:rPr>
              <a:t>Thin-film MIM junctions, cavity fabrication, 2D-material transfer. [Workbook: start, comp]</a:t>
            </a:r>
            <a:endParaRPr lang="en-US" sz="850" dirty="0"/>
          </a:p>
        </p:txBody>
      </p:sp>
      <p:sp>
        <p:nvSpPr>
          <p:cNvPr id="26" name="Shape 20"/>
          <p:cNvSpPr/>
          <p:nvPr/>
        </p:nvSpPr>
        <p:spPr>
          <a:xfrm>
            <a:off x="4663440" y="3246120"/>
            <a:ext cx="1965960" cy="1371600"/>
          </a:xfrm>
          <a:prstGeom prst="roundRect">
            <a:avLst>
              <a:gd name="adj" fmla="val 5333"/>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7" name="Shape 21"/>
          <p:cNvSpPr/>
          <p:nvPr/>
        </p:nvSpPr>
        <p:spPr>
          <a:xfrm>
            <a:off x="4828032" y="3392424"/>
            <a:ext cx="365760" cy="365760"/>
          </a:xfrm>
          <a:prstGeom prst="ellipse">
            <a:avLst/>
          </a:prstGeom>
          <a:solidFill>
            <a:srgbClr val="163338"/>
          </a:solidFill>
          <a:ln w="6350">
            <a:solidFill>
              <a:srgbClr val="5EEAD4"/>
            </a:solidFill>
            <a:prstDash val="solid"/>
          </a:ln>
        </p:spPr>
      </p:sp>
      <p:pic>
        <p:nvPicPr>
          <p:cNvPr id="28" name="Image 4" descr="preencoded.png">    </p:cNvPr>
          <p:cNvPicPr>
            <a:picLocks noChangeAspect="1"/>
          </p:cNvPicPr>
          <p:nvPr/>
        </p:nvPicPr>
        <p:blipFill>
          <a:blip r:embed="rId5"/>
          <a:stretch>
            <a:fillRect/>
          </a:stretch>
        </p:blipFill>
        <p:spPr>
          <a:xfrm>
            <a:off x="4915814" y="3480206"/>
            <a:ext cx="190195" cy="190195"/>
          </a:xfrm>
          <a:prstGeom prst="rect">
            <a:avLst/>
          </a:prstGeom>
        </p:spPr>
      </p:pic>
      <p:sp>
        <p:nvSpPr>
          <p:cNvPr id="29" name="Text 22"/>
          <p:cNvSpPr txBox="1"/>
          <p:nvPr/>
        </p:nvSpPr>
        <p:spPr>
          <a:xfrm>
            <a:off x="5303520" y="3374136"/>
            <a:ext cx="1188720" cy="402336"/>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Measurement Engineer</a:t>
            </a:r>
            <a:endParaRPr lang="en-US" sz="1050" dirty="0"/>
          </a:p>
        </p:txBody>
      </p:sp>
      <p:sp>
        <p:nvSpPr>
          <p:cNvPr id="30" name="Text 23"/>
          <p:cNvSpPr txBox="1"/>
          <p:nvPr/>
        </p:nvSpPr>
        <p:spPr>
          <a:xfrm>
            <a:off x="4846320" y="3813048"/>
            <a:ext cx="1600200" cy="667512"/>
          </a:xfrm>
          <a:prstGeom prst="rect">
            <a:avLst/>
          </a:prstGeom>
          <a:noFill/>
          <a:ln/>
        </p:spPr>
        <p:txBody>
          <a:bodyPr wrap="square" lIns="0" tIns="0" rIns="0" bIns="0" rtlCol="0" anchor="t"/>
          <a:lstStyle/>
          <a:p>
            <a:pPr indent="0" marL="0">
              <a:spcAft>
                <a:spcPts val="400"/>
              </a:spcAft>
              <a:buNone/>
            </a:pPr>
            <a:r>
              <a:rPr lang="en-US" sz="850" dirty="0">
                <a:solidFill>
                  <a:srgbClr val="C9D6E3"/>
                </a:solidFill>
                <a:latin typeface="Calibri" pitchFamily="34" charset="0"/>
                <a:ea typeface="Calibri" pitchFamily="34" charset="-122"/>
                <a:cs typeface="Calibri" pitchFamily="34" charset="-120"/>
              </a:rPr>
              <a:t>Low-noise electrical measurement, calorimetry, shielding and grounding. [Workbook: start, comp]</a:t>
            </a:r>
            <a:endParaRPr lang="en-US" sz="850" dirty="0"/>
          </a:p>
        </p:txBody>
      </p:sp>
      <p:sp>
        <p:nvSpPr>
          <p:cNvPr id="31" name="Shape 24"/>
          <p:cNvSpPr/>
          <p:nvPr/>
        </p:nvSpPr>
        <p:spPr>
          <a:xfrm>
            <a:off x="6766560" y="3246120"/>
            <a:ext cx="1965960" cy="1371600"/>
          </a:xfrm>
          <a:prstGeom prst="roundRect">
            <a:avLst>
              <a:gd name="adj" fmla="val 5333"/>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32" name="Shape 25"/>
          <p:cNvSpPr/>
          <p:nvPr/>
        </p:nvSpPr>
        <p:spPr>
          <a:xfrm>
            <a:off x="6931152" y="3392424"/>
            <a:ext cx="365760" cy="365760"/>
          </a:xfrm>
          <a:prstGeom prst="ellipse">
            <a:avLst/>
          </a:prstGeom>
          <a:solidFill>
            <a:srgbClr val="163338"/>
          </a:solidFill>
          <a:ln w="6350">
            <a:solidFill>
              <a:srgbClr val="5EEAD4"/>
            </a:solidFill>
            <a:prstDash val="solid"/>
          </a:ln>
        </p:spPr>
      </p:sp>
      <p:pic>
        <p:nvPicPr>
          <p:cNvPr id="33" name="Image 5" descr="preencoded.png">    </p:cNvPr>
          <p:cNvPicPr>
            <a:picLocks noChangeAspect="1"/>
          </p:cNvPicPr>
          <p:nvPr/>
        </p:nvPicPr>
        <p:blipFill>
          <a:blip r:embed="rId6"/>
          <a:stretch>
            <a:fillRect/>
          </a:stretch>
        </p:blipFill>
        <p:spPr>
          <a:xfrm>
            <a:off x="7018934" y="3480206"/>
            <a:ext cx="190195" cy="190195"/>
          </a:xfrm>
          <a:prstGeom prst="rect">
            <a:avLst/>
          </a:prstGeom>
        </p:spPr>
      </p:pic>
      <p:sp>
        <p:nvSpPr>
          <p:cNvPr id="34" name="Text 26"/>
          <p:cNvSpPr txBox="1"/>
          <p:nvPr/>
        </p:nvSpPr>
        <p:spPr>
          <a:xfrm>
            <a:off x="7406640" y="3374136"/>
            <a:ext cx="1188720" cy="402336"/>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Lab Manager / Operations</a:t>
            </a:r>
            <a:endParaRPr lang="en-US" sz="1050" dirty="0"/>
          </a:p>
        </p:txBody>
      </p:sp>
      <p:sp>
        <p:nvSpPr>
          <p:cNvPr id="35" name="Text 27"/>
          <p:cNvSpPr txBox="1"/>
          <p:nvPr/>
        </p:nvSpPr>
        <p:spPr>
          <a:xfrm>
            <a:off x="6949440" y="3813048"/>
            <a:ext cx="1600200" cy="667512"/>
          </a:xfrm>
          <a:prstGeom prst="rect">
            <a:avLst/>
          </a:prstGeom>
          <a:noFill/>
          <a:ln/>
        </p:spPr>
        <p:txBody>
          <a:bodyPr wrap="square" lIns="0" tIns="0" rIns="0" bIns="0" rtlCol="0" anchor="t"/>
          <a:lstStyle/>
          <a:p>
            <a:pPr indent="0" marL="0">
              <a:spcAft>
                <a:spcPts val="400"/>
              </a:spcAft>
              <a:buNone/>
            </a:pPr>
            <a:r>
              <a:rPr lang="en-US" sz="850" dirty="0">
                <a:solidFill>
                  <a:srgbClr val="C9D6E3"/>
                </a:solidFill>
                <a:latin typeface="Calibri" pitchFamily="34" charset="0"/>
                <a:ea typeface="Calibri" pitchFamily="34" charset="-122"/>
                <a:cs typeface="Calibri" pitchFamily="34" charset="-120"/>
              </a:rPr>
              <a:t>Facility, safety, procurement and data pipeline. [Workbook: start, comp]</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17</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MILESTONES</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Thirty-six months, three decisions</a:t>
            </a:r>
            <a:endParaRPr lang="en-US" sz="2400" dirty="0"/>
          </a:p>
        </p:txBody>
      </p:sp>
      <p:sp>
        <p:nvSpPr>
          <p:cNvPr id="6" name="Shape 4"/>
          <p:cNvSpPr/>
          <p:nvPr/>
        </p:nvSpPr>
        <p:spPr>
          <a:xfrm>
            <a:off x="731520" y="2331720"/>
            <a:ext cx="7680960" cy="0"/>
          </a:xfrm>
          <a:prstGeom prst="line">
            <a:avLst/>
          </a:prstGeom>
          <a:noFill/>
          <a:ln w="25400">
            <a:solidFill>
              <a:srgbClr val="223049"/>
            </a:solidFill>
            <a:prstDash val="solid"/>
          </a:ln>
        </p:spPr>
      </p:sp>
      <p:sp>
        <p:nvSpPr>
          <p:cNvPr id="7" name="Shape 5"/>
          <p:cNvSpPr/>
          <p:nvPr/>
        </p:nvSpPr>
        <p:spPr>
          <a:xfrm>
            <a:off x="630936" y="2231136"/>
            <a:ext cx="201168" cy="201168"/>
          </a:xfrm>
          <a:prstGeom prst="ellipse">
            <a:avLst/>
          </a:prstGeom>
          <a:solidFill>
            <a:srgbClr val="0B1120"/>
          </a:solidFill>
          <a:ln w="15875">
            <a:solidFill>
              <a:srgbClr val="5EEAD4"/>
            </a:solidFill>
            <a:prstDash val="solid"/>
          </a:ln>
        </p:spPr>
      </p:sp>
      <p:sp>
        <p:nvSpPr>
          <p:cNvPr id="8" name="Text 6"/>
          <p:cNvSpPr txBox="1"/>
          <p:nvPr/>
        </p:nvSpPr>
        <p:spPr>
          <a:xfrm>
            <a:off x="274320" y="2514600"/>
            <a:ext cx="914400" cy="228600"/>
          </a:xfrm>
          <a:prstGeom prst="rect">
            <a:avLst/>
          </a:prstGeom>
          <a:noFill/>
          <a:ln/>
        </p:spPr>
        <p:txBody>
          <a:bodyPr wrap="square" lIns="0" tIns="0" rIns="0" bIns="0" rtlCol="0" anchor="ctr"/>
          <a:lstStyle/>
          <a:p>
            <a:pPr algn="ctr" indent="0" marL="0">
              <a:buNone/>
            </a:pPr>
            <a:r>
              <a:rPr lang="en-US" sz="1000" b="1" dirty="0">
                <a:solidFill>
                  <a:srgbClr val="E6EDF5"/>
                </a:solidFill>
                <a:latin typeface="Calibri" pitchFamily="34" charset="0"/>
                <a:ea typeface="Calibri" pitchFamily="34" charset="-122"/>
                <a:cs typeface="Calibri" pitchFamily="34" charset="-120"/>
              </a:rPr>
              <a:t>M0</a:t>
            </a:r>
            <a:endParaRPr lang="en-US" sz="1000" dirty="0"/>
          </a:p>
        </p:txBody>
      </p:sp>
      <p:sp>
        <p:nvSpPr>
          <p:cNvPr id="9" name="Text 7"/>
          <p:cNvSpPr txBox="1"/>
          <p:nvPr/>
        </p:nvSpPr>
        <p:spPr>
          <a:xfrm>
            <a:off x="109728" y="1188720"/>
            <a:ext cx="1243584" cy="960120"/>
          </a:xfrm>
          <a:prstGeom prst="rect">
            <a:avLst/>
          </a:prstGeom>
          <a:noFill/>
          <a:ln/>
        </p:spPr>
        <p:txBody>
          <a:bodyPr wrap="square" lIns="0" tIns="0" rIns="0" bIns="0" rtlCol="0" anchor="b"/>
          <a:lstStyle/>
          <a:p>
            <a:pPr algn="ctr" indent="0" marL="0">
              <a:buNone/>
            </a:pPr>
            <a:r>
              <a:rPr lang="en-US" sz="800" dirty="0">
                <a:solidFill>
                  <a:srgbClr val="C9D6E3"/>
                </a:solidFill>
                <a:latin typeface="Calibri" pitchFamily="34" charset="0"/>
                <a:ea typeface="Calibri" pitchFamily="34" charset="-122"/>
                <a:cs typeface="Calibri" pitchFamily="34" charset="-120"/>
              </a:rPr>
              <a:t>Close Tranche A · form EnergyWave Inc. · sign advisory board · contract replication partner</a:t>
            </a:r>
            <a:endParaRPr lang="en-US" sz="800" dirty="0"/>
          </a:p>
        </p:txBody>
      </p:sp>
      <p:sp>
        <p:nvSpPr>
          <p:cNvPr id="10" name="Shape 8"/>
          <p:cNvSpPr/>
          <p:nvPr/>
        </p:nvSpPr>
        <p:spPr>
          <a:xfrm>
            <a:off x="1911096" y="2231136"/>
            <a:ext cx="201168" cy="201168"/>
          </a:xfrm>
          <a:prstGeom prst="ellipse">
            <a:avLst/>
          </a:prstGeom>
          <a:solidFill>
            <a:srgbClr val="0B1120"/>
          </a:solidFill>
          <a:ln w="15875">
            <a:solidFill>
              <a:srgbClr val="5EEAD4"/>
            </a:solidFill>
            <a:prstDash val="solid"/>
          </a:ln>
        </p:spPr>
      </p:sp>
      <p:sp>
        <p:nvSpPr>
          <p:cNvPr id="11" name="Text 9"/>
          <p:cNvSpPr txBox="1"/>
          <p:nvPr/>
        </p:nvSpPr>
        <p:spPr>
          <a:xfrm>
            <a:off x="1554480" y="2514600"/>
            <a:ext cx="914400" cy="228600"/>
          </a:xfrm>
          <a:prstGeom prst="rect">
            <a:avLst/>
          </a:prstGeom>
          <a:noFill/>
          <a:ln/>
        </p:spPr>
        <p:txBody>
          <a:bodyPr wrap="square" lIns="0" tIns="0" rIns="0" bIns="0" rtlCol="0" anchor="ctr"/>
          <a:lstStyle/>
          <a:p>
            <a:pPr algn="ctr" indent="0" marL="0">
              <a:buNone/>
            </a:pPr>
            <a:r>
              <a:rPr lang="en-US" sz="1000" b="1" dirty="0">
                <a:solidFill>
                  <a:srgbClr val="E6EDF5"/>
                </a:solidFill>
                <a:latin typeface="Calibri" pitchFamily="34" charset="0"/>
                <a:ea typeface="Calibri" pitchFamily="34" charset="-122"/>
                <a:cs typeface="Calibri" pitchFamily="34" charset="-120"/>
              </a:rPr>
              <a:t>M[6]</a:t>
            </a:r>
            <a:endParaRPr lang="en-US" sz="1000" dirty="0"/>
          </a:p>
        </p:txBody>
      </p:sp>
      <p:sp>
        <p:nvSpPr>
          <p:cNvPr id="12" name="Text 10"/>
          <p:cNvSpPr txBox="1"/>
          <p:nvPr/>
        </p:nvSpPr>
        <p:spPr>
          <a:xfrm>
            <a:off x="1389888" y="2788920"/>
            <a:ext cx="1243584" cy="960120"/>
          </a:xfrm>
          <a:prstGeom prst="rect">
            <a:avLst/>
          </a:prstGeom>
          <a:noFill/>
          <a:ln/>
        </p:spPr>
        <p:txBody>
          <a:bodyPr wrap="square" lIns="0" tIns="0" rIns="0" bIns="0" rtlCol="0" anchor="t"/>
          <a:lstStyle/>
          <a:p>
            <a:pPr algn="ctr" indent="0" marL="0">
              <a:buNone/>
            </a:pPr>
            <a:r>
              <a:rPr lang="en-US" sz="800" dirty="0">
                <a:solidFill>
                  <a:srgbClr val="C9D6E3"/>
                </a:solidFill>
                <a:latin typeface="Calibri" pitchFamily="34" charset="0"/>
                <a:ea typeface="Calibri" pitchFamily="34" charset="-122"/>
                <a:cs typeface="Calibri" pitchFamily="34" charset="-120"/>
              </a:rPr>
              <a:t>Bench commissioned · Gate 1 pre-registration published</a:t>
            </a:r>
            <a:endParaRPr lang="en-US" sz="800" dirty="0"/>
          </a:p>
        </p:txBody>
      </p:sp>
      <p:sp>
        <p:nvSpPr>
          <p:cNvPr id="13" name="Shape 11"/>
          <p:cNvSpPr/>
          <p:nvPr/>
        </p:nvSpPr>
        <p:spPr>
          <a:xfrm>
            <a:off x="3191256" y="2231136"/>
            <a:ext cx="201168" cy="201168"/>
          </a:xfrm>
          <a:prstGeom prst="ellipse">
            <a:avLst/>
          </a:prstGeom>
          <a:solidFill>
            <a:srgbClr val="5EEAD4"/>
          </a:solidFill>
          <a:ln w="15875">
            <a:solidFill>
              <a:srgbClr val="5EEAD4"/>
            </a:solidFill>
            <a:prstDash val="solid"/>
          </a:ln>
        </p:spPr>
      </p:sp>
      <p:sp>
        <p:nvSpPr>
          <p:cNvPr id="14" name="Text 12"/>
          <p:cNvSpPr txBox="1"/>
          <p:nvPr/>
        </p:nvSpPr>
        <p:spPr>
          <a:xfrm>
            <a:off x="2834640" y="2514600"/>
            <a:ext cx="914400" cy="228600"/>
          </a:xfrm>
          <a:prstGeom prst="rect">
            <a:avLst/>
          </a:prstGeom>
          <a:noFill/>
          <a:ln/>
        </p:spPr>
        <p:txBody>
          <a:bodyPr wrap="square" lIns="0" tIns="0" rIns="0" bIns="0" rtlCol="0" anchor="ctr"/>
          <a:lstStyle/>
          <a:p>
            <a:pPr algn="ctr" indent="0" marL="0">
              <a:buNone/>
            </a:pPr>
            <a:r>
              <a:rPr lang="en-US" sz="1000" b="1" dirty="0">
                <a:solidFill>
                  <a:srgbClr val="5EEAD4"/>
                </a:solidFill>
                <a:latin typeface="Calibri" pitchFamily="34" charset="0"/>
                <a:ea typeface="Calibri" pitchFamily="34" charset="-122"/>
                <a:cs typeface="Calibri" pitchFamily="34" charset="-120"/>
              </a:rPr>
              <a:t>M[12]</a:t>
            </a:r>
            <a:endParaRPr lang="en-US" sz="1000" dirty="0"/>
          </a:p>
        </p:txBody>
      </p:sp>
      <p:sp>
        <p:nvSpPr>
          <p:cNvPr id="15" name="Text 13"/>
          <p:cNvSpPr txBox="1"/>
          <p:nvPr/>
        </p:nvSpPr>
        <p:spPr>
          <a:xfrm>
            <a:off x="2670048" y="1188720"/>
            <a:ext cx="1243584" cy="960120"/>
          </a:xfrm>
          <a:prstGeom prst="rect">
            <a:avLst/>
          </a:prstGeom>
          <a:noFill/>
          <a:ln/>
        </p:spPr>
        <p:txBody>
          <a:bodyPr wrap="square" lIns="0" tIns="0" rIns="0" bIns="0" rtlCol="0" anchor="b"/>
          <a:lstStyle/>
          <a:p>
            <a:pPr algn="ctr" indent="0" marL="0">
              <a:buNone/>
            </a:pPr>
            <a:r>
              <a:rPr lang="en-US" sz="800" dirty="0">
                <a:solidFill>
                  <a:srgbClr val="E6EDF5"/>
                </a:solidFill>
                <a:latin typeface="Calibri" pitchFamily="34" charset="0"/>
                <a:ea typeface="Calibri" pitchFamily="34" charset="-122"/>
                <a:cs typeface="Calibri" pitchFamily="34" charset="-120"/>
              </a:rPr>
              <a:t>GATE 1 DECISION — report, certification, publication → Tranche B or wind-down</a:t>
            </a:r>
            <a:endParaRPr lang="en-US" sz="800" dirty="0"/>
          </a:p>
        </p:txBody>
      </p:sp>
      <p:sp>
        <p:nvSpPr>
          <p:cNvPr id="16" name="Shape 14"/>
          <p:cNvSpPr/>
          <p:nvPr/>
        </p:nvSpPr>
        <p:spPr>
          <a:xfrm>
            <a:off x="4471416" y="2231136"/>
            <a:ext cx="201168" cy="201168"/>
          </a:xfrm>
          <a:prstGeom prst="ellipse">
            <a:avLst/>
          </a:prstGeom>
          <a:solidFill>
            <a:srgbClr val="0B1120"/>
          </a:solidFill>
          <a:ln w="15875">
            <a:solidFill>
              <a:srgbClr val="5EEAD4"/>
            </a:solidFill>
            <a:prstDash val="solid"/>
          </a:ln>
        </p:spPr>
      </p:sp>
      <p:sp>
        <p:nvSpPr>
          <p:cNvPr id="17" name="Text 15"/>
          <p:cNvSpPr txBox="1"/>
          <p:nvPr/>
        </p:nvSpPr>
        <p:spPr>
          <a:xfrm>
            <a:off x="4114800" y="2514600"/>
            <a:ext cx="914400" cy="228600"/>
          </a:xfrm>
          <a:prstGeom prst="rect">
            <a:avLst/>
          </a:prstGeom>
          <a:noFill/>
          <a:ln/>
        </p:spPr>
        <p:txBody>
          <a:bodyPr wrap="square" lIns="0" tIns="0" rIns="0" bIns="0" rtlCol="0" anchor="ctr"/>
          <a:lstStyle/>
          <a:p>
            <a:pPr algn="ctr" indent="0" marL="0">
              <a:buNone/>
            </a:pPr>
            <a:r>
              <a:rPr lang="en-US" sz="1000" b="1" dirty="0">
                <a:solidFill>
                  <a:srgbClr val="E6EDF5"/>
                </a:solidFill>
                <a:latin typeface="Calibri" pitchFamily="34" charset="0"/>
                <a:ea typeface="Calibri" pitchFamily="34" charset="-122"/>
                <a:cs typeface="Calibri" pitchFamily="34" charset="-120"/>
              </a:rPr>
              <a:t>M[18]</a:t>
            </a:r>
            <a:endParaRPr lang="en-US" sz="1000" dirty="0"/>
          </a:p>
        </p:txBody>
      </p:sp>
      <p:sp>
        <p:nvSpPr>
          <p:cNvPr id="18" name="Text 16"/>
          <p:cNvSpPr txBox="1"/>
          <p:nvPr/>
        </p:nvSpPr>
        <p:spPr>
          <a:xfrm>
            <a:off x="3950208" y="2788920"/>
            <a:ext cx="1243584" cy="960120"/>
          </a:xfrm>
          <a:prstGeom prst="rect">
            <a:avLst/>
          </a:prstGeom>
          <a:noFill/>
          <a:ln/>
        </p:spPr>
        <p:txBody>
          <a:bodyPr wrap="square" lIns="0" tIns="0" rIns="0" bIns="0" rtlCol="0" anchor="t"/>
          <a:lstStyle/>
          <a:p>
            <a:pPr algn="ctr" indent="0" marL="0">
              <a:buNone/>
            </a:pPr>
            <a:r>
              <a:rPr lang="en-US" sz="800" dirty="0">
                <a:solidFill>
                  <a:srgbClr val="C9D6E3"/>
                </a:solidFill>
                <a:latin typeface="Calibri" pitchFamily="34" charset="0"/>
                <a:ea typeface="Calibri" pitchFamily="34" charset="-122"/>
                <a:cs typeface="Calibri" pitchFamily="34" charset="-120"/>
              </a:rPr>
              <a:t>Calorimetry and mechanism runs · second-lab replication under way</a:t>
            </a:r>
            <a:endParaRPr lang="en-US" sz="800" dirty="0"/>
          </a:p>
        </p:txBody>
      </p:sp>
      <p:sp>
        <p:nvSpPr>
          <p:cNvPr id="19" name="Shape 17"/>
          <p:cNvSpPr/>
          <p:nvPr/>
        </p:nvSpPr>
        <p:spPr>
          <a:xfrm>
            <a:off x="5751576" y="2231136"/>
            <a:ext cx="201168" cy="201168"/>
          </a:xfrm>
          <a:prstGeom prst="ellipse">
            <a:avLst/>
          </a:prstGeom>
          <a:solidFill>
            <a:srgbClr val="5EEAD4"/>
          </a:solidFill>
          <a:ln w="15875">
            <a:solidFill>
              <a:srgbClr val="5EEAD4"/>
            </a:solidFill>
            <a:prstDash val="solid"/>
          </a:ln>
        </p:spPr>
      </p:sp>
      <p:sp>
        <p:nvSpPr>
          <p:cNvPr id="20" name="Text 18"/>
          <p:cNvSpPr txBox="1"/>
          <p:nvPr/>
        </p:nvSpPr>
        <p:spPr>
          <a:xfrm>
            <a:off x="5394960" y="2514600"/>
            <a:ext cx="914400" cy="228600"/>
          </a:xfrm>
          <a:prstGeom prst="rect">
            <a:avLst/>
          </a:prstGeom>
          <a:noFill/>
          <a:ln/>
        </p:spPr>
        <p:txBody>
          <a:bodyPr wrap="square" lIns="0" tIns="0" rIns="0" bIns="0" rtlCol="0" anchor="ctr"/>
          <a:lstStyle/>
          <a:p>
            <a:pPr algn="ctr" indent="0" marL="0">
              <a:buNone/>
            </a:pPr>
            <a:r>
              <a:rPr lang="en-US" sz="1000" b="1" dirty="0">
                <a:solidFill>
                  <a:srgbClr val="5EEAD4"/>
                </a:solidFill>
                <a:latin typeface="Calibri" pitchFamily="34" charset="0"/>
                <a:ea typeface="Calibri" pitchFamily="34" charset="-122"/>
                <a:cs typeface="Calibri" pitchFamily="34" charset="-120"/>
              </a:rPr>
              <a:t>M[24]</a:t>
            </a:r>
            <a:endParaRPr lang="en-US" sz="1000" dirty="0"/>
          </a:p>
        </p:txBody>
      </p:sp>
      <p:sp>
        <p:nvSpPr>
          <p:cNvPr id="21" name="Text 19"/>
          <p:cNvSpPr txBox="1"/>
          <p:nvPr/>
        </p:nvSpPr>
        <p:spPr>
          <a:xfrm>
            <a:off x="5230368" y="1188720"/>
            <a:ext cx="1243584" cy="960120"/>
          </a:xfrm>
          <a:prstGeom prst="rect">
            <a:avLst/>
          </a:prstGeom>
          <a:noFill/>
          <a:ln/>
        </p:spPr>
        <p:txBody>
          <a:bodyPr wrap="square" lIns="0" tIns="0" rIns="0" bIns="0" rtlCol="0" anchor="b"/>
          <a:lstStyle/>
          <a:p>
            <a:pPr algn="ctr" indent="0" marL="0">
              <a:buNone/>
            </a:pPr>
            <a:r>
              <a:rPr lang="en-US" sz="800" dirty="0">
                <a:solidFill>
                  <a:srgbClr val="E6EDF5"/>
                </a:solidFill>
                <a:latin typeface="Calibri" pitchFamily="34" charset="0"/>
                <a:ea typeface="Calibri" pitchFamily="34" charset="-122"/>
                <a:cs typeface="Calibri" pitchFamily="34" charset="-120"/>
              </a:rPr>
              <a:t>GATE 2 DECISION — report, certification, publication → Tranche C or wind-down</a:t>
            </a:r>
            <a:endParaRPr lang="en-US" sz="800" dirty="0"/>
          </a:p>
        </p:txBody>
      </p:sp>
      <p:sp>
        <p:nvSpPr>
          <p:cNvPr id="22" name="Shape 20"/>
          <p:cNvSpPr/>
          <p:nvPr/>
        </p:nvSpPr>
        <p:spPr>
          <a:xfrm>
            <a:off x="7031736" y="2231136"/>
            <a:ext cx="201168" cy="201168"/>
          </a:xfrm>
          <a:prstGeom prst="ellipse">
            <a:avLst/>
          </a:prstGeom>
          <a:solidFill>
            <a:srgbClr val="0B1120"/>
          </a:solidFill>
          <a:ln w="15875">
            <a:solidFill>
              <a:srgbClr val="5EEAD4"/>
            </a:solidFill>
            <a:prstDash val="solid"/>
          </a:ln>
        </p:spPr>
      </p:sp>
      <p:sp>
        <p:nvSpPr>
          <p:cNvPr id="23" name="Text 21"/>
          <p:cNvSpPr txBox="1"/>
          <p:nvPr/>
        </p:nvSpPr>
        <p:spPr>
          <a:xfrm>
            <a:off x="6675120" y="2514600"/>
            <a:ext cx="914400" cy="228600"/>
          </a:xfrm>
          <a:prstGeom prst="rect">
            <a:avLst/>
          </a:prstGeom>
          <a:noFill/>
          <a:ln/>
        </p:spPr>
        <p:txBody>
          <a:bodyPr wrap="square" lIns="0" tIns="0" rIns="0" bIns="0" rtlCol="0" anchor="ctr"/>
          <a:lstStyle/>
          <a:p>
            <a:pPr algn="ctr" indent="0" marL="0">
              <a:buNone/>
            </a:pPr>
            <a:r>
              <a:rPr lang="en-US" sz="1000" b="1" dirty="0">
                <a:solidFill>
                  <a:srgbClr val="E6EDF5"/>
                </a:solidFill>
                <a:latin typeface="Calibri" pitchFamily="34" charset="0"/>
                <a:ea typeface="Calibri" pitchFamily="34" charset="-122"/>
                <a:cs typeface="Calibri" pitchFamily="34" charset="-120"/>
              </a:rPr>
              <a:t>M[30]</a:t>
            </a:r>
            <a:endParaRPr lang="en-US" sz="1000" dirty="0"/>
          </a:p>
        </p:txBody>
      </p:sp>
      <p:sp>
        <p:nvSpPr>
          <p:cNvPr id="24" name="Text 22"/>
          <p:cNvSpPr txBox="1"/>
          <p:nvPr/>
        </p:nvSpPr>
        <p:spPr>
          <a:xfrm>
            <a:off x="6510528" y="2788920"/>
            <a:ext cx="1243584" cy="960120"/>
          </a:xfrm>
          <a:prstGeom prst="rect">
            <a:avLst/>
          </a:prstGeom>
          <a:noFill/>
          <a:ln/>
        </p:spPr>
        <p:txBody>
          <a:bodyPr wrap="square" lIns="0" tIns="0" rIns="0" bIns="0" rtlCol="0" anchor="t"/>
          <a:lstStyle/>
          <a:p>
            <a:pPr algn="ctr" indent="0" marL="0">
              <a:buNone/>
            </a:pPr>
            <a:r>
              <a:rPr lang="en-US" sz="800" dirty="0">
                <a:solidFill>
                  <a:srgbClr val="C9D6E3"/>
                </a:solidFill>
                <a:latin typeface="Calibri" pitchFamily="34" charset="0"/>
                <a:ea typeface="Calibri" pitchFamily="34" charset="-122"/>
                <a:cs typeface="Calibri" pitchFamily="34" charset="-120"/>
              </a:rPr>
              <a:t>Arrays · lifetime and power-density characterization</a:t>
            </a:r>
            <a:endParaRPr lang="en-US" sz="800" dirty="0"/>
          </a:p>
        </p:txBody>
      </p:sp>
      <p:sp>
        <p:nvSpPr>
          <p:cNvPr id="25" name="Shape 23"/>
          <p:cNvSpPr/>
          <p:nvPr/>
        </p:nvSpPr>
        <p:spPr>
          <a:xfrm>
            <a:off x="8311896" y="2231136"/>
            <a:ext cx="201168" cy="201168"/>
          </a:xfrm>
          <a:prstGeom prst="ellipse">
            <a:avLst/>
          </a:prstGeom>
          <a:solidFill>
            <a:srgbClr val="5EEAD4"/>
          </a:solidFill>
          <a:ln w="15875">
            <a:solidFill>
              <a:srgbClr val="5EEAD4"/>
            </a:solidFill>
            <a:prstDash val="solid"/>
          </a:ln>
        </p:spPr>
      </p:sp>
      <p:sp>
        <p:nvSpPr>
          <p:cNvPr id="26" name="Text 24"/>
          <p:cNvSpPr txBox="1"/>
          <p:nvPr/>
        </p:nvSpPr>
        <p:spPr>
          <a:xfrm>
            <a:off x="7955280" y="2514600"/>
            <a:ext cx="914400" cy="228600"/>
          </a:xfrm>
          <a:prstGeom prst="rect">
            <a:avLst/>
          </a:prstGeom>
          <a:noFill/>
          <a:ln/>
        </p:spPr>
        <p:txBody>
          <a:bodyPr wrap="square" lIns="0" tIns="0" rIns="0" bIns="0" rtlCol="0" anchor="ctr"/>
          <a:lstStyle/>
          <a:p>
            <a:pPr algn="ctr" indent="0" marL="0">
              <a:buNone/>
            </a:pPr>
            <a:r>
              <a:rPr lang="en-US" sz="1000" b="1" dirty="0">
                <a:solidFill>
                  <a:srgbClr val="5EEAD4"/>
                </a:solidFill>
                <a:latin typeface="Calibri" pitchFamily="34" charset="0"/>
                <a:ea typeface="Calibri" pitchFamily="34" charset="-122"/>
                <a:cs typeface="Calibri" pitchFamily="34" charset="-120"/>
              </a:rPr>
              <a:t>M[36]</a:t>
            </a:r>
            <a:endParaRPr lang="en-US" sz="1000" dirty="0"/>
          </a:p>
        </p:txBody>
      </p:sp>
      <p:sp>
        <p:nvSpPr>
          <p:cNvPr id="27" name="Text 25"/>
          <p:cNvSpPr txBox="1"/>
          <p:nvPr/>
        </p:nvSpPr>
        <p:spPr>
          <a:xfrm>
            <a:off x="7790688" y="1188720"/>
            <a:ext cx="1243584" cy="960120"/>
          </a:xfrm>
          <a:prstGeom prst="rect">
            <a:avLst/>
          </a:prstGeom>
          <a:noFill/>
          <a:ln/>
        </p:spPr>
        <p:txBody>
          <a:bodyPr wrap="square" lIns="0" tIns="0" rIns="0" bIns="0" rtlCol="0" anchor="b"/>
          <a:lstStyle/>
          <a:p>
            <a:pPr algn="ctr" indent="0" marL="0">
              <a:buNone/>
            </a:pPr>
            <a:r>
              <a:rPr lang="en-US" sz="800" dirty="0">
                <a:solidFill>
                  <a:srgbClr val="E6EDF5"/>
                </a:solidFill>
                <a:latin typeface="Calibri" pitchFamily="34" charset="0"/>
                <a:ea typeface="Calibri" pitchFamily="34" charset="-122"/>
                <a:cs typeface="Calibri" pitchFamily="34" charset="-120"/>
              </a:rPr>
              <a:t>GATE 3 — third-party validation · first performance disclosure</a:t>
            </a:r>
            <a:endParaRPr lang="en-US" sz="800" dirty="0"/>
          </a:p>
        </p:txBody>
      </p:sp>
      <p:sp>
        <p:nvSpPr>
          <p:cNvPr id="28" name="Text 26"/>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900" dirty="0">
                <a:solidFill>
                  <a:srgbClr val="8FA3B8"/>
                </a:solidFill>
                <a:latin typeface="Calibri" pitchFamily="34" charset="0"/>
                <a:ea typeface="Calibri" pitchFamily="34" charset="-122"/>
                <a:cs typeface="Calibri" pitchFamily="34" charset="-120"/>
              </a:rPr>
              <a:t>Month numbers in brackets are placeholders — align to the workbook's milestone sheet. Both early decisions can end the program; the design treats that as a success of the process, not a failure of the company.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18</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CAPITAL REQUEST AND USE OF FUNDS</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Three tranches over thirty-six months</a:t>
            </a:r>
            <a:endParaRPr lang="en-US" sz="2400" dirty="0"/>
          </a:p>
        </p:txBody>
      </p:sp>
      <p:sp>
        <p:nvSpPr>
          <p:cNvPr id="6" name="Text 4"/>
          <p:cNvSpPr txBox="1"/>
          <p:nvPr/>
        </p:nvSpPr>
        <p:spPr>
          <a:xfrm>
            <a:off x="457200" y="1188720"/>
            <a:ext cx="3840480" cy="777240"/>
          </a:xfrm>
          <a:prstGeom prst="rect">
            <a:avLst/>
          </a:prstGeom>
          <a:noFill/>
          <a:ln/>
        </p:spPr>
        <p:txBody>
          <a:bodyPr wrap="square" lIns="0" tIns="0" rIns="0" bIns="0" rtlCol="0" anchor="ctr"/>
          <a:lstStyle/>
          <a:p>
            <a:pPr indent="0" marL="0">
              <a:buNone/>
            </a:pPr>
            <a:r>
              <a:rPr lang="en-US" sz="4400" b="1" dirty="0">
                <a:solidFill>
                  <a:srgbClr val="5EEAD4"/>
                </a:solidFill>
                <a:latin typeface="Cambria" pitchFamily="34" charset="0"/>
                <a:ea typeface="Cambria" pitchFamily="34" charset="-122"/>
                <a:cs typeface="Cambria" pitchFamily="34" charset="-120"/>
              </a:rPr>
              <a:t>$[RAISE]M</a:t>
            </a:r>
            <a:endParaRPr lang="en-US" sz="4400" dirty="0"/>
          </a:p>
        </p:txBody>
      </p:sp>
      <p:sp>
        <p:nvSpPr>
          <p:cNvPr id="7" name="Text 5"/>
          <p:cNvSpPr txBox="1"/>
          <p:nvPr/>
        </p:nvSpPr>
        <p:spPr>
          <a:xfrm>
            <a:off x="457200" y="1965960"/>
            <a:ext cx="3840480" cy="365760"/>
          </a:xfrm>
          <a:prstGeom prst="rect">
            <a:avLst/>
          </a:prstGeom>
          <a:noFill/>
          <a:ln/>
        </p:spPr>
        <p:txBody>
          <a:bodyPr wrap="square" lIns="0" tIns="0" rIns="0" bIns="0" rtlCol="0" anchor="ctr"/>
          <a:lstStyle/>
          <a:p>
            <a:pPr indent="0" marL="0">
              <a:buNone/>
            </a:pPr>
            <a:r>
              <a:rPr lang="en-US" sz="1000" dirty="0">
                <a:solidFill>
                  <a:srgbClr val="8FA3B8"/>
                </a:solidFill>
                <a:latin typeface="Calibri" pitchFamily="34" charset="0"/>
                <a:ea typeface="Calibri" pitchFamily="34" charset="-122"/>
                <a:cs typeface="Calibri" pitchFamily="34" charset="-120"/>
              </a:rPr>
              <a:t>total raise · 36 months · average burn $[BURN]k/month · reserve [N] months (workbook forecast)</a:t>
            </a:r>
            <a:endParaRPr lang="en-US" sz="1000" dirty="0"/>
          </a:p>
        </p:txBody>
      </p:sp>
      <p:sp>
        <p:nvSpPr>
          <p:cNvPr id="8" name="Shape 6"/>
          <p:cNvSpPr/>
          <p:nvPr/>
        </p:nvSpPr>
        <p:spPr>
          <a:xfrm>
            <a:off x="457200" y="2514600"/>
            <a:ext cx="3840480" cy="502920"/>
          </a:xfrm>
          <a:prstGeom prst="roundRect">
            <a:avLst>
              <a:gd name="adj" fmla="val 9091"/>
            </a:avLst>
          </a:prstGeom>
          <a:solidFill>
            <a:srgbClr val="121A2E"/>
          </a:solidFill>
          <a:ln w="9525">
            <a:solidFill>
              <a:srgbClr val="223049"/>
            </a:solidFill>
            <a:prstDash val="solid"/>
          </a:ln>
        </p:spPr>
      </p:sp>
      <p:sp>
        <p:nvSpPr>
          <p:cNvPr id="9" name="Shape 7"/>
          <p:cNvSpPr/>
          <p:nvPr/>
        </p:nvSpPr>
        <p:spPr>
          <a:xfrm>
            <a:off x="457200" y="2514600"/>
            <a:ext cx="1920240" cy="502920"/>
          </a:xfrm>
          <a:prstGeom prst="roundRect">
            <a:avLst>
              <a:gd name="adj" fmla="val 9091"/>
            </a:avLst>
          </a:prstGeom>
          <a:solidFill>
            <a:srgbClr val="163338"/>
          </a:solidFill>
          <a:ln w="9525">
            <a:solidFill>
              <a:srgbClr val="5EEAD4"/>
            </a:solidFill>
            <a:prstDash val="solid"/>
          </a:ln>
        </p:spPr>
      </p:sp>
      <p:sp>
        <p:nvSpPr>
          <p:cNvPr id="10" name="Text 8"/>
          <p:cNvSpPr txBox="1"/>
          <p:nvPr/>
        </p:nvSpPr>
        <p:spPr>
          <a:xfrm>
            <a:off x="594360" y="2514600"/>
            <a:ext cx="3657600" cy="50292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Tranche A  </a:t>
            </a:r>
            <a:pPr indent="0" marL="0">
              <a:buNone/>
            </a:pPr>
            <a:r>
              <a:rPr lang="en-US" sz="1050" b="1" dirty="0">
                <a:solidFill>
                  <a:srgbClr val="5EEAD4"/>
                </a:solidFill>
                <a:latin typeface="Calibri" pitchFamily="34" charset="0"/>
                <a:ea typeface="Calibri" pitchFamily="34" charset="-122"/>
                <a:cs typeface="Calibri" pitchFamily="34" charset="-120"/>
              </a:rPr>
              <a:t>$[A]M  </a:t>
            </a:r>
            <a:pPr indent="0" marL="0">
              <a:buNone/>
            </a:pPr>
            <a:r>
              <a:rPr lang="en-US" sz="1050" dirty="0">
                <a:solidFill>
                  <a:srgbClr val="8FA3B8"/>
                </a:solidFill>
                <a:latin typeface="Calibri" pitchFamily="34" charset="0"/>
                <a:ea typeface="Calibri" pitchFamily="34" charset="-122"/>
                <a:cs typeface="Calibri" pitchFamily="34" charset="-120"/>
              </a:rPr>
              <a:t>Gate 1 · released at close</a:t>
            </a:r>
            <a:endParaRPr lang="en-US" sz="1050" dirty="0"/>
          </a:p>
        </p:txBody>
      </p:sp>
      <p:sp>
        <p:nvSpPr>
          <p:cNvPr id="11" name="Shape 9"/>
          <p:cNvSpPr/>
          <p:nvPr/>
        </p:nvSpPr>
        <p:spPr>
          <a:xfrm>
            <a:off x="457200" y="3136392"/>
            <a:ext cx="3840480" cy="502920"/>
          </a:xfrm>
          <a:prstGeom prst="roundRect">
            <a:avLst>
              <a:gd name="adj" fmla="val 9091"/>
            </a:avLst>
          </a:prstGeom>
          <a:solidFill>
            <a:srgbClr val="121A2E"/>
          </a:solidFill>
          <a:ln w="9525">
            <a:solidFill>
              <a:srgbClr val="223049"/>
            </a:solidFill>
            <a:prstDash val="solid"/>
          </a:ln>
        </p:spPr>
      </p:sp>
      <p:sp>
        <p:nvSpPr>
          <p:cNvPr id="12" name="Shape 10"/>
          <p:cNvSpPr/>
          <p:nvPr/>
        </p:nvSpPr>
        <p:spPr>
          <a:xfrm>
            <a:off x="457200" y="3136392"/>
            <a:ext cx="1228954" cy="502920"/>
          </a:xfrm>
          <a:prstGeom prst="roundRect">
            <a:avLst>
              <a:gd name="adj" fmla="val 9091"/>
            </a:avLst>
          </a:prstGeom>
          <a:solidFill>
            <a:srgbClr val="182339"/>
          </a:solidFill>
          <a:ln w="9525">
            <a:solidFill>
              <a:srgbClr val="223049"/>
            </a:solidFill>
            <a:prstDash val="solid"/>
          </a:ln>
        </p:spPr>
      </p:sp>
      <p:sp>
        <p:nvSpPr>
          <p:cNvPr id="13" name="Text 11"/>
          <p:cNvSpPr txBox="1"/>
          <p:nvPr/>
        </p:nvSpPr>
        <p:spPr>
          <a:xfrm>
            <a:off x="594360" y="3136392"/>
            <a:ext cx="3657600" cy="50292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Tranche B  </a:t>
            </a:r>
            <a:pPr indent="0" marL="0">
              <a:buNone/>
            </a:pPr>
            <a:r>
              <a:rPr lang="en-US" sz="1050" b="1" dirty="0">
                <a:solidFill>
                  <a:srgbClr val="5EEAD4"/>
                </a:solidFill>
                <a:latin typeface="Calibri" pitchFamily="34" charset="0"/>
                <a:ea typeface="Calibri" pitchFamily="34" charset="-122"/>
                <a:cs typeface="Calibri" pitchFamily="34" charset="-120"/>
              </a:rPr>
              <a:t>$[B]M  </a:t>
            </a:r>
            <a:pPr indent="0" marL="0">
              <a:buNone/>
            </a:pPr>
            <a:r>
              <a:rPr lang="en-US" sz="1050" dirty="0">
                <a:solidFill>
                  <a:srgbClr val="8FA3B8"/>
                </a:solidFill>
                <a:latin typeface="Calibri" pitchFamily="34" charset="0"/>
                <a:ea typeface="Calibri" pitchFamily="34" charset="-122"/>
                <a:cs typeface="Calibri" pitchFamily="34" charset="-120"/>
              </a:rPr>
              <a:t>Gate 2 · escrowed</a:t>
            </a:r>
            <a:endParaRPr lang="en-US" sz="1050" dirty="0"/>
          </a:p>
        </p:txBody>
      </p:sp>
      <p:sp>
        <p:nvSpPr>
          <p:cNvPr id="14" name="Shape 12"/>
          <p:cNvSpPr/>
          <p:nvPr/>
        </p:nvSpPr>
        <p:spPr>
          <a:xfrm>
            <a:off x="457200" y="3758184"/>
            <a:ext cx="3840480" cy="502920"/>
          </a:xfrm>
          <a:prstGeom prst="roundRect">
            <a:avLst>
              <a:gd name="adj" fmla="val 9091"/>
            </a:avLst>
          </a:prstGeom>
          <a:solidFill>
            <a:srgbClr val="121A2E"/>
          </a:solidFill>
          <a:ln w="9525">
            <a:solidFill>
              <a:srgbClr val="223049"/>
            </a:solidFill>
            <a:prstDash val="solid"/>
          </a:ln>
        </p:spPr>
      </p:sp>
      <p:sp>
        <p:nvSpPr>
          <p:cNvPr id="15" name="Shape 13"/>
          <p:cNvSpPr/>
          <p:nvPr/>
        </p:nvSpPr>
        <p:spPr>
          <a:xfrm>
            <a:off x="457200" y="3758184"/>
            <a:ext cx="691286" cy="502920"/>
          </a:xfrm>
          <a:prstGeom prst="roundRect">
            <a:avLst>
              <a:gd name="adj" fmla="val 9091"/>
            </a:avLst>
          </a:prstGeom>
          <a:solidFill>
            <a:srgbClr val="182339"/>
          </a:solidFill>
          <a:ln w="9525">
            <a:solidFill>
              <a:srgbClr val="223049"/>
            </a:solidFill>
            <a:prstDash val="solid"/>
          </a:ln>
        </p:spPr>
      </p:sp>
      <p:sp>
        <p:nvSpPr>
          <p:cNvPr id="16" name="Text 14"/>
          <p:cNvSpPr txBox="1"/>
          <p:nvPr/>
        </p:nvSpPr>
        <p:spPr>
          <a:xfrm>
            <a:off x="594360" y="3758184"/>
            <a:ext cx="3657600" cy="50292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Tranche C  </a:t>
            </a:r>
            <a:pPr indent="0" marL="0">
              <a:buNone/>
            </a:pPr>
            <a:r>
              <a:rPr lang="en-US" sz="1050" b="1" dirty="0">
                <a:solidFill>
                  <a:srgbClr val="5EEAD4"/>
                </a:solidFill>
                <a:latin typeface="Calibri" pitchFamily="34" charset="0"/>
                <a:ea typeface="Calibri" pitchFamily="34" charset="-122"/>
                <a:cs typeface="Calibri" pitchFamily="34" charset="-120"/>
              </a:rPr>
              <a:t>$[C]M  </a:t>
            </a:r>
            <a:pPr indent="0" marL="0">
              <a:buNone/>
            </a:pPr>
            <a:r>
              <a:rPr lang="en-US" sz="1050" dirty="0">
                <a:solidFill>
                  <a:srgbClr val="8FA3B8"/>
                </a:solidFill>
                <a:latin typeface="Calibri" pitchFamily="34" charset="0"/>
                <a:ea typeface="Calibri" pitchFamily="34" charset="-122"/>
                <a:cs typeface="Calibri" pitchFamily="34" charset="-120"/>
              </a:rPr>
              <a:t>Gate 3 · escrowed</a:t>
            </a:r>
            <a:endParaRPr lang="en-US" sz="1050" dirty="0"/>
          </a:p>
        </p:txBody>
      </p:sp>
      <p:sp>
        <p:nvSpPr>
          <p:cNvPr id="17" name="Text 15"/>
          <p:cNvSpPr txBox="1"/>
          <p:nvPr/>
        </p:nvSpPr>
        <p:spPr>
          <a:xfrm>
            <a:off x="457200" y="4407408"/>
            <a:ext cx="3840480" cy="27432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Bar lengths are illustrative of the structure only, not of the workbook's split.</a:t>
            </a:r>
            <a:endParaRPr lang="en-US" sz="800" dirty="0"/>
          </a:p>
        </p:txBody>
      </p:sp>
      <p:sp>
        <p:nvSpPr>
          <p:cNvPr id="18" name="Shape 16"/>
          <p:cNvSpPr/>
          <p:nvPr/>
        </p:nvSpPr>
        <p:spPr>
          <a:xfrm>
            <a:off x="4663440" y="1234440"/>
            <a:ext cx="4023360" cy="3383280"/>
          </a:xfrm>
          <a:prstGeom prst="roundRect">
            <a:avLst>
              <a:gd name="adj" fmla="val 2162"/>
            </a:avLst>
          </a:prstGeom>
          <a:solidFill>
            <a:srgbClr val="121A2E"/>
          </a:solidFill>
          <a:ln w="9525">
            <a:solidFill>
              <a:srgbClr val="223049"/>
            </a:solidFill>
            <a:prstDash val="solid"/>
          </a:ln>
        </p:spPr>
      </p:sp>
      <p:sp>
        <p:nvSpPr>
          <p:cNvPr id="19" name="Text 17"/>
          <p:cNvSpPr txBox="1"/>
          <p:nvPr/>
        </p:nvSpPr>
        <p:spPr>
          <a:xfrm>
            <a:off x="4846320" y="1353312"/>
            <a:ext cx="365760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Use of funds (workbook categories)</a:t>
            </a:r>
            <a:endParaRPr lang="en-US" sz="1200" dirty="0"/>
          </a:p>
        </p:txBody>
      </p:sp>
      <p:sp>
        <p:nvSpPr>
          <p:cNvPr id="20" name="Text 18"/>
          <p:cNvSpPr txBox="1"/>
          <p:nvPr/>
        </p:nvSpPr>
        <p:spPr>
          <a:xfrm>
            <a:off x="4846320" y="1737360"/>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Research staff and benefits</a:t>
            </a:r>
            <a:endParaRPr lang="en-US" sz="1050" dirty="0"/>
          </a:p>
        </p:txBody>
      </p:sp>
      <p:sp>
        <p:nvSpPr>
          <p:cNvPr id="21" name="Text 19"/>
          <p:cNvSpPr txBox="1"/>
          <p:nvPr/>
        </p:nvSpPr>
        <p:spPr>
          <a:xfrm>
            <a:off x="7772400" y="1737360"/>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22" name="Shape 20"/>
          <p:cNvSpPr/>
          <p:nvPr/>
        </p:nvSpPr>
        <p:spPr>
          <a:xfrm>
            <a:off x="4846320" y="2121408"/>
            <a:ext cx="3657600" cy="0"/>
          </a:xfrm>
          <a:prstGeom prst="line">
            <a:avLst/>
          </a:prstGeom>
          <a:noFill/>
          <a:ln w="6350">
            <a:solidFill>
              <a:srgbClr val="223049"/>
            </a:solidFill>
            <a:prstDash val="solid"/>
          </a:ln>
        </p:spPr>
      </p:sp>
      <p:sp>
        <p:nvSpPr>
          <p:cNvPr id="23" name="Text 21"/>
          <p:cNvSpPr txBox="1"/>
          <p:nvPr/>
        </p:nvSpPr>
        <p:spPr>
          <a:xfrm>
            <a:off x="4846320" y="2167128"/>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Laboratory equipment and fabrication access</a:t>
            </a:r>
            <a:endParaRPr lang="en-US" sz="1050" dirty="0"/>
          </a:p>
        </p:txBody>
      </p:sp>
      <p:sp>
        <p:nvSpPr>
          <p:cNvPr id="24" name="Text 22"/>
          <p:cNvSpPr txBox="1"/>
          <p:nvPr/>
        </p:nvSpPr>
        <p:spPr>
          <a:xfrm>
            <a:off x="7772400" y="2167128"/>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25" name="Shape 23"/>
          <p:cNvSpPr/>
          <p:nvPr/>
        </p:nvSpPr>
        <p:spPr>
          <a:xfrm>
            <a:off x="4846320" y="2551176"/>
            <a:ext cx="3657600" cy="0"/>
          </a:xfrm>
          <a:prstGeom prst="line">
            <a:avLst/>
          </a:prstGeom>
          <a:noFill/>
          <a:ln w="6350">
            <a:solidFill>
              <a:srgbClr val="223049"/>
            </a:solidFill>
            <a:prstDash val="solid"/>
          </a:ln>
        </p:spPr>
      </p:sp>
      <p:sp>
        <p:nvSpPr>
          <p:cNvPr id="26" name="Text 24"/>
          <p:cNvSpPr txBox="1"/>
          <p:nvPr/>
        </p:nvSpPr>
        <p:spPr>
          <a:xfrm>
            <a:off x="4846320" y="2596896"/>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Facilities</a:t>
            </a:r>
            <a:endParaRPr lang="en-US" sz="1050" dirty="0"/>
          </a:p>
        </p:txBody>
      </p:sp>
      <p:sp>
        <p:nvSpPr>
          <p:cNvPr id="27" name="Text 25"/>
          <p:cNvSpPr txBox="1"/>
          <p:nvPr/>
        </p:nvSpPr>
        <p:spPr>
          <a:xfrm>
            <a:off x="7772400" y="2596896"/>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28" name="Shape 26"/>
          <p:cNvSpPr/>
          <p:nvPr/>
        </p:nvSpPr>
        <p:spPr>
          <a:xfrm>
            <a:off x="4846320" y="2980944"/>
            <a:ext cx="3657600" cy="0"/>
          </a:xfrm>
          <a:prstGeom prst="line">
            <a:avLst/>
          </a:prstGeom>
          <a:noFill/>
          <a:ln w="6350">
            <a:solidFill>
              <a:srgbClr val="223049"/>
            </a:solidFill>
            <a:prstDash val="solid"/>
          </a:ln>
        </p:spPr>
      </p:sp>
      <p:sp>
        <p:nvSpPr>
          <p:cNvPr id="29" name="Text 27"/>
          <p:cNvSpPr txBox="1"/>
          <p:nvPr/>
        </p:nvSpPr>
        <p:spPr>
          <a:xfrm>
            <a:off x="4846320" y="3026664"/>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Independent replication and advisory board</a:t>
            </a:r>
            <a:endParaRPr lang="en-US" sz="1050" dirty="0"/>
          </a:p>
        </p:txBody>
      </p:sp>
      <p:sp>
        <p:nvSpPr>
          <p:cNvPr id="30" name="Text 28"/>
          <p:cNvSpPr txBox="1"/>
          <p:nvPr/>
        </p:nvSpPr>
        <p:spPr>
          <a:xfrm>
            <a:off x="7772400" y="3026664"/>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31" name="Shape 29"/>
          <p:cNvSpPr/>
          <p:nvPr/>
        </p:nvSpPr>
        <p:spPr>
          <a:xfrm>
            <a:off x="4846320" y="3410712"/>
            <a:ext cx="3657600" cy="0"/>
          </a:xfrm>
          <a:prstGeom prst="line">
            <a:avLst/>
          </a:prstGeom>
          <a:noFill/>
          <a:ln w="6350">
            <a:solidFill>
              <a:srgbClr val="223049"/>
            </a:solidFill>
            <a:prstDash val="solid"/>
          </a:ln>
        </p:spPr>
      </p:sp>
      <p:sp>
        <p:nvSpPr>
          <p:cNvPr id="32" name="Text 30"/>
          <p:cNvSpPr txBox="1"/>
          <p:nvPr/>
        </p:nvSpPr>
        <p:spPr>
          <a:xfrm>
            <a:off x="4846320" y="3456432"/>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Legal, IP and formation</a:t>
            </a:r>
            <a:endParaRPr lang="en-US" sz="1050" dirty="0"/>
          </a:p>
        </p:txBody>
      </p:sp>
      <p:sp>
        <p:nvSpPr>
          <p:cNvPr id="33" name="Text 31"/>
          <p:cNvSpPr txBox="1"/>
          <p:nvPr/>
        </p:nvSpPr>
        <p:spPr>
          <a:xfrm>
            <a:off x="7772400" y="3456432"/>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34" name="Shape 32"/>
          <p:cNvSpPr/>
          <p:nvPr/>
        </p:nvSpPr>
        <p:spPr>
          <a:xfrm>
            <a:off x="4846320" y="3840480"/>
            <a:ext cx="3657600" cy="0"/>
          </a:xfrm>
          <a:prstGeom prst="line">
            <a:avLst/>
          </a:prstGeom>
          <a:noFill/>
          <a:ln w="6350">
            <a:solidFill>
              <a:srgbClr val="223049"/>
            </a:solidFill>
            <a:prstDash val="solid"/>
          </a:ln>
        </p:spPr>
      </p:sp>
      <p:sp>
        <p:nvSpPr>
          <p:cNvPr id="35" name="Text 33"/>
          <p:cNvSpPr txBox="1"/>
          <p:nvPr/>
        </p:nvSpPr>
        <p:spPr>
          <a:xfrm>
            <a:off x="4846320" y="3886200"/>
            <a:ext cx="2926080" cy="3200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Operating reserve</a:t>
            </a:r>
            <a:endParaRPr lang="en-US" sz="1050" dirty="0"/>
          </a:p>
        </p:txBody>
      </p:sp>
      <p:sp>
        <p:nvSpPr>
          <p:cNvPr id="36" name="Text 34"/>
          <p:cNvSpPr txBox="1"/>
          <p:nvPr/>
        </p:nvSpPr>
        <p:spPr>
          <a:xfrm>
            <a:off x="7772400" y="3886200"/>
            <a:ext cx="731520" cy="320040"/>
          </a:xfrm>
          <a:prstGeom prst="rect">
            <a:avLst/>
          </a:prstGeom>
          <a:noFill/>
          <a:ln/>
        </p:spPr>
        <p:txBody>
          <a:bodyPr wrap="square" lIns="0" tIns="0" rIns="0" bIns="0" rtlCol="0" anchor="ctr"/>
          <a:lstStyle/>
          <a:p>
            <a:pPr algn="r" indent="0" marL="0">
              <a:buNone/>
            </a:pPr>
            <a:r>
              <a:rPr lang="en-US" sz="1050" b="1" dirty="0">
                <a:solidFill>
                  <a:srgbClr val="5EEAD4"/>
                </a:solidFill>
                <a:latin typeface="Calibri" pitchFamily="34" charset="0"/>
                <a:ea typeface="Calibri" pitchFamily="34" charset="-122"/>
                <a:cs typeface="Calibri" pitchFamily="34" charset="-120"/>
              </a:rPr>
              <a:t>[ %]</a:t>
            </a:r>
            <a:endParaRPr lang="en-US" sz="1050" dirty="0"/>
          </a:p>
        </p:txBody>
      </p:sp>
      <p:sp>
        <p:nvSpPr>
          <p:cNvPr id="37" name="Text 35"/>
          <p:cNvSpPr txBox="1"/>
          <p:nvPr/>
        </p:nvSpPr>
        <p:spPr>
          <a:xfrm>
            <a:off x="4846320" y="4297680"/>
            <a:ext cx="3657600" cy="274320"/>
          </a:xfrm>
          <a:prstGeom prst="rect">
            <a:avLst/>
          </a:prstGeom>
          <a:noFill/>
          <a:ln/>
        </p:spPr>
        <p:txBody>
          <a:bodyPr wrap="square" lIns="0" tIns="0" rIns="0" bIns="0" rtlCol="0" anchor="ctr"/>
          <a:lstStyle/>
          <a:p>
            <a:pPr indent="0" marL="0">
              <a:buNone/>
            </a:pPr>
            <a:r>
              <a:rPr lang="en-US" sz="850" dirty="0">
                <a:solidFill>
                  <a:srgbClr val="8FA3B8"/>
                </a:solidFill>
                <a:latin typeface="Calibri" pitchFamily="34" charset="0"/>
                <a:ea typeface="Calibri" pitchFamily="34" charset="-122"/>
                <a:cs typeface="Calibri" pitchFamily="34" charset="-120"/>
              </a:rPr>
              <a:t>Scenarios (base / delayed Gate 1 / early kill) and the month-by-month forecast are in the data room.</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Text 0"/>
          <p:cNvSpPr txBox="1"/>
          <p:nvPr/>
        </p:nvSpPr>
        <p:spPr>
          <a:xfrm>
            <a:off x="457200" y="4800600"/>
            <a:ext cx="6858000" cy="228600"/>
          </a:xfrm>
          <a:prstGeom prst="rect">
            <a:avLst/>
          </a:prstGeom>
          <a:noFill/>
          <a:ln/>
        </p:spPr>
        <p:txBody>
          <a:bodyPr wrap="square" lIns="0" tIns="0" rIns="0" bIns="0" rtlCol="0" anchor="ctr"/>
          <a:lstStyle/>
          <a:p>
            <a:pPr indent="0" marL="0">
              <a:buNone/>
            </a:pPr>
            <a:r>
              <a:rPr lang="en-US" sz="800" dirty="0">
                <a:solidFill>
                  <a:srgbClr val="8FA3B8"/>
                </a:solidFill>
                <a:latin typeface="Calibri" pitchFamily="34" charset="0"/>
                <a:ea typeface="Calibri" pitchFamily="34" charset="-122"/>
                <a:cs typeface="Calibri" pitchFamily="34" charset="-120"/>
              </a:rPr>
              <a:t>EnergyWave · Investor overview · Confidential draft for counsel review · September 2026</a:t>
            </a:r>
            <a:endParaRPr lang="en-US" sz="800" dirty="0"/>
          </a:p>
        </p:txBody>
      </p:sp>
      <p:sp>
        <p:nvSpPr>
          <p:cNvPr id="3" name="Text 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8FA3B8"/>
                </a:solidFill>
                <a:latin typeface="Calibri" pitchFamily="34" charset="0"/>
                <a:ea typeface="Calibri" pitchFamily="34" charset="-122"/>
                <a:cs typeface="Calibri" pitchFamily="34" charset="-120"/>
              </a:rPr>
              <a:t>19</a:t>
            </a:r>
            <a:endParaRPr lang="en-US" sz="800" dirty="0"/>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RISKS — STATED FIRST</a:t>
            </a:r>
            <a:endParaRPr lang="en-US" sz="950" dirty="0"/>
          </a:p>
        </p:txBody>
      </p:sp>
      <p:sp>
        <p:nvSpPr>
          <p:cNvPr id="5" name="Text 3"/>
          <p:cNvSpPr txBox="1"/>
          <p:nvPr/>
        </p:nvSpPr>
        <p:spPr>
          <a:xfrm>
            <a:off x="457200" y="502920"/>
            <a:ext cx="8229600" cy="640080"/>
          </a:xfrm>
          <a:prstGeom prst="rect">
            <a:avLst/>
          </a:prstGeom>
          <a:noFill/>
          <a:ln/>
        </p:spPr>
        <p:txBody>
          <a:bodyPr wrap="square" lIns="0" tIns="0" rIns="0" bIns="0" rtlCol="0" anchor="t"/>
          <a:lstStyle/>
          <a:p>
            <a:pPr indent="0" marL="0">
              <a:buNone/>
            </a:pPr>
            <a:r>
              <a:rPr lang="en-US" sz="2400" b="1" dirty="0">
                <a:solidFill>
                  <a:srgbClr val="E6EDF5"/>
                </a:solidFill>
                <a:latin typeface="Cambria" pitchFamily="34" charset="0"/>
                <a:ea typeface="Cambria" pitchFamily="34" charset="-122"/>
                <a:cs typeface="Cambria" pitchFamily="34" charset="-120"/>
              </a:rPr>
              <a:t>What can go wrong, and what the structure does</a:t>
            </a:r>
            <a:endParaRPr lang="en-US" sz="2400" dirty="0"/>
          </a:p>
        </p:txBody>
      </p:sp>
      <p:sp>
        <p:nvSpPr>
          <p:cNvPr id="6" name="Shape 4"/>
          <p:cNvSpPr/>
          <p:nvPr/>
        </p:nvSpPr>
        <p:spPr>
          <a:xfrm>
            <a:off x="457200" y="123444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7" name="Shape 5"/>
          <p:cNvSpPr/>
          <p:nvPr/>
        </p:nvSpPr>
        <p:spPr>
          <a:xfrm>
            <a:off x="621792" y="1380744"/>
            <a:ext cx="365760" cy="365760"/>
          </a:xfrm>
          <a:prstGeom prst="ellipse">
            <a:avLst/>
          </a:prstGeom>
          <a:solidFill>
            <a:srgbClr val="3A2E14"/>
          </a:solidFill>
          <a:ln w="6350">
            <a:solidFill>
              <a:srgbClr val="F5B942"/>
            </a:solidFill>
            <a:prstDash val="solid"/>
          </a:ln>
        </p:spPr>
      </p:sp>
      <p:pic>
        <p:nvPicPr>
          <p:cNvPr id="8" name="Image 0" descr="preencoded.png">    </p:cNvPr>
          <p:cNvPicPr>
            <a:picLocks noChangeAspect="1"/>
          </p:cNvPicPr>
          <p:nvPr/>
        </p:nvPicPr>
        <p:blipFill>
          <a:blip r:embed="rId1"/>
          <a:stretch>
            <a:fillRect/>
          </a:stretch>
        </p:blipFill>
        <p:spPr>
          <a:xfrm>
            <a:off x="709574" y="1468526"/>
            <a:ext cx="190195" cy="190195"/>
          </a:xfrm>
          <a:prstGeom prst="rect">
            <a:avLst/>
          </a:prstGeom>
        </p:spPr>
      </p:pic>
      <p:sp>
        <p:nvSpPr>
          <p:cNvPr id="9" name="Text 6"/>
          <p:cNvSpPr txBox="1"/>
          <p:nvPr/>
        </p:nvSpPr>
        <p:spPr>
          <a:xfrm>
            <a:off x="1097280" y="136245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Scientific</a:t>
            </a:r>
            <a:endParaRPr lang="en-US" sz="1150" dirty="0"/>
          </a:p>
        </p:txBody>
      </p:sp>
      <p:sp>
        <p:nvSpPr>
          <p:cNvPr id="10" name="Text 7"/>
          <p:cNvSpPr txBox="1"/>
          <p:nvPr/>
        </p:nvSpPr>
        <p:spPr>
          <a:xfrm>
            <a:off x="640080" y="180136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The mainstream prior says the answer is 'no'; the most likely outcome is a published null at Gate 1. Mitigation: a cheap, decisive Gate 1 and escrowed later tranches.</a:t>
            </a:r>
            <a:endParaRPr lang="en-US" sz="900" dirty="0"/>
          </a:p>
        </p:txBody>
      </p:sp>
      <p:sp>
        <p:nvSpPr>
          <p:cNvPr id="11" name="Shape 8"/>
          <p:cNvSpPr/>
          <p:nvPr/>
        </p:nvSpPr>
        <p:spPr>
          <a:xfrm>
            <a:off x="3246120" y="123444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2" name="Shape 9"/>
          <p:cNvSpPr/>
          <p:nvPr/>
        </p:nvSpPr>
        <p:spPr>
          <a:xfrm>
            <a:off x="3410712" y="1380744"/>
            <a:ext cx="365760" cy="365760"/>
          </a:xfrm>
          <a:prstGeom prst="ellipse">
            <a:avLst/>
          </a:prstGeom>
          <a:solidFill>
            <a:srgbClr val="163338"/>
          </a:solidFill>
          <a:ln w="6350">
            <a:solidFill>
              <a:srgbClr val="5EEAD4"/>
            </a:solidFill>
            <a:prstDash val="solid"/>
          </a:ln>
        </p:spPr>
      </p:sp>
      <p:pic>
        <p:nvPicPr>
          <p:cNvPr id="13" name="Image 1" descr="preencoded.png">    </p:cNvPr>
          <p:cNvPicPr>
            <a:picLocks noChangeAspect="1"/>
          </p:cNvPicPr>
          <p:nvPr/>
        </p:nvPicPr>
        <p:blipFill>
          <a:blip r:embed="rId2"/>
          <a:stretch>
            <a:fillRect/>
          </a:stretch>
        </p:blipFill>
        <p:spPr>
          <a:xfrm>
            <a:off x="3498494" y="1468526"/>
            <a:ext cx="190195" cy="190195"/>
          </a:xfrm>
          <a:prstGeom prst="rect">
            <a:avLst/>
          </a:prstGeom>
        </p:spPr>
      </p:pic>
      <p:sp>
        <p:nvSpPr>
          <p:cNvPr id="14" name="Text 10"/>
          <p:cNvSpPr txBox="1"/>
          <p:nvPr/>
        </p:nvSpPr>
        <p:spPr>
          <a:xfrm>
            <a:off x="3886200" y="136245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Artifact</a:t>
            </a:r>
            <a:endParaRPr lang="en-US" sz="1150" dirty="0"/>
          </a:p>
        </p:txBody>
      </p:sp>
      <p:sp>
        <p:nvSpPr>
          <p:cNvPr id="15" name="Text 11"/>
          <p:cNvSpPr txBox="1"/>
          <p:nvPr/>
        </p:nvSpPr>
        <p:spPr>
          <a:xfrm>
            <a:off x="3429000" y="180136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Picowatt signals are easily manufactured by thermal gradients, EM pickup, contact potentials and stored charge. Mitigation: the artifact-exclusion protocol and blinded runs are the core of Gate 1.</a:t>
            </a:r>
            <a:endParaRPr lang="en-US" sz="900" dirty="0"/>
          </a:p>
        </p:txBody>
      </p:sp>
      <p:sp>
        <p:nvSpPr>
          <p:cNvPr id="16" name="Shape 12"/>
          <p:cNvSpPr/>
          <p:nvPr/>
        </p:nvSpPr>
        <p:spPr>
          <a:xfrm>
            <a:off x="6035040" y="123444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17" name="Shape 13"/>
          <p:cNvSpPr/>
          <p:nvPr/>
        </p:nvSpPr>
        <p:spPr>
          <a:xfrm>
            <a:off x="6199632" y="1380744"/>
            <a:ext cx="365760" cy="365760"/>
          </a:xfrm>
          <a:prstGeom prst="ellipse">
            <a:avLst/>
          </a:prstGeom>
          <a:solidFill>
            <a:srgbClr val="163338"/>
          </a:solidFill>
          <a:ln w="6350">
            <a:solidFill>
              <a:srgbClr val="5EEAD4"/>
            </a:solidFill>
            <a:prstDash val="solid"/>
          </a:ln>
        </p:spPr>
      </p:sp>
      <p:pic>
        <p:nvPicPr>
          <p:cNvPr id="18" name="Image 2" descr="preencoded.png">    </p:cNvPr>
          <p:cNvPicPr>
            <a:picLocks noChangeAspect="1"/>
          </p:cNvPicPr>
          <p:nvPr/>
        </p:nvPicPr>
        <p:blipFill>
          <a:blip r:embed="rId3"/>
          <a:stretch>
            <a:fillRect/>
          </a:stretch>
        </p:blipFill>
        <p:spPr>
          <a:xfrm>
            <a:off x="6287414" y="1468526"/>
            <a:ext cx="190195" cy="190195"/>
          </a:xfrm>
          <a:prstGeom prst="rect">
            <a:avLst/>
          </a:prstGeom>
        </p:spPr>
      </p:pic>
      <p:sp>
        <p:nvSpPr>
          <p:cNvPr id="19" name="Text 14"/>
          <p:cNvSpPr txBox="1"/>
          <p:nvPr/>
        </p:nvSpPr>
        <p:spPr>
          <a:xfrm>
            <a:off x="6675120" y="136245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Reputational</a:t>
            </a:r>
            <a:endParaRPr lang="en-US" sz="1150" dirty="0"/>
          </a:p>
        </p:txBody>
      </p:sp>
      <p:sp>
        <p:nvSpPr>
          <p:cNvPr id="20" name="Text 15"/>
          <p:cNvSpPr txBox="1"/>
          <p:nvPr/>
        </p:nvSpPr>
        <p:spPr>
          <a:xfrm>
            <a:off x="6217920" y="180136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The field is crowded with unsubstantiated claims. Mitigation: claims discipline, published nulls and an independent board — the posture is the differentiator.</a:t>
            </a:r>
            <a:endParaRPr lang="en-US" sz="900" dirty="0"/>
          </a:p>
        </p:txBody>
      </p:sp>
      <p:sp>
        <p:nvSpPr>
          <p:cNvPr id="21" name="Shape 16"/>
          <p:cNvSpPr/>
          <p:nvPr/>
        </p:nvSpPr>
        <p:spPr>
          <a:xfrm>
            <a:off x="457200" y="292608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2" name="Shape 17"/>
          <p:cNvSpPr/>
          <p:nvPr/>
        </p:nvSpPr>
        <p:spPr>
          <a:xfrm>
            <a:off x="621792" y="3072384"/>
            <a:ext cx="365760" cy="365760"/>
          </a:xfrm>
          <a:prstGeom prst="ellipse">
            <a:avLst/>
          </a:prstGeom>
          <a:solidFill>
            <a:srgbClr val="163338"/>
          </a:solidFill>
          <a:ln w="6350">
            <a:solidFill>
              <a:srgbClr val="5EEAD4"/>
            </a:solidFill>
            <a:prstDash val="solid"/>
          </a:ln>
        </p:spPr>
      </p:sp>
      <p:pic>
        <p:nvPicPr>
          <p:cNvPr id="23" name="Image 3" descr="preencoded.png">    </p:cNvPr>
          <p:cNvPicPr>
            <a:picLocks noChangeAspect="1"/>
          </p:cNvPicPr>
          <p:nvPr/>
        </p:nvPicPr>
        <p:blipFill>
          <a:blip r:embed="rId4"/>
          <a:stretch>
            <a:fillRect/>
          </a:stretch>
        </p:blipFill>
        <p:spPr>
          <a:xfrm>
            <a:off x="709574" y="3160166"/>
            <a:ext cx="190195" cy="190195"/>
          </a:xfrm>
          <a:prstGeom prst="rect">
            <a:avLst/>
          </a:prstGeom>
        </p:spPr>
      </p:pic>
      <p:sp>
        <p:nvSpPr>
          <p:cNvPr id="24" name="Text 18"/>
          <p:cNvSpPr txBox="1"/>
          <p:nvPr/>
        </p:nvSpPr>
        <p:spPr>
          <a:xfrm>
            <a:off x="1097280" y="305409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Team</a:t>
            </a:r>
            <a:endParaRPr lang="en-US" sz="1150" dirty="0"/>
          </a:p>
        </p:txBody>
      </p:sp>
      <p:sp>
        <p:nvSpPr>
          <p:cNvPr id="25" name="Text 19"/>
          <p:cNvSpPr txBox="1"/>
          <p:nvPr/>
        </p:nvSpPr>
        <p:spPr>
          <a:xfrm>
            <a:off x="640080" y="349300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No principal investigator yet. Mitigation: the PI hire is a Tranche A condition; the advisory board is recruited before close.</a:t>
            </a:r>
            <a:endParaRPr lang="en-US" sz="900" dirty="0"/>
          </a:p>
        </p:txBody>
      </p:sp>
      <p:sp>
        <p:nvSpPr>
          <p:cNvPr id="26" name="Shape 20"/>
          <p:cNvSpPr/>
          <p:nvPr/>
        </p:nvSpPr>
        <p:spPr>
          <a:xfrm>
            <a:off x="3246120" y="292608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27" name="Shape 21"/>
          <p:cNvSpPr/>
          <p:nvPr/>
        </p:nvSpPr>
        <p:spPr>
          <a:xfrm>
            <a:off x="3410712" y="3072384"/>
            <a:ext cx="365760" cy="365760"/>
          </a:xfrm>
          <a:prstGeom prst="ellipse">
            <a:avLst/>
          </a:prstGeom>
          <a:solidFill>
            <a:srgbClr val="163338"/>
          </a:solidFill>
          <a:ln w="6350">
            <a:solidFill>
              <a:srgbClr val="5EEAD4"/>
            </a:solidFill>
            <a:prstDash val="solid"/>
          </a:ln>
        </p:spPr>
      </p:sp>
      <p:pic>
        <p:nvPicPr>
          <p:cNvPr id="28" name="Image 4" descr="preencoded.png">    </p:cNvPr>
          <p:cNvPicPr>
            <a:picLocks noChangeAspect="1"/>
          </p:cNvPicPr>
          <p:nvPr/>
        </p:nvPicPr>
        <p:blipFill>
          <a:blip r:embed="rId5"/>
          <a:stretch>
            <a:fillRect/>
          </a:stretch>
        </p:blipFill>
        <p:spPr>
          <a:xfrm>
            <a:off x="3498494" y="3160166"/>
            <a:ext cx="190195" cy="190195"/>
          </a:xfrm>
          <a:prstGeom prst="rect">
            <a:avLst/>
          </a:prstGeom>
        </p:spPr>
      </p:pic>
      <p:sp>
        <p:nvSpPr>
          <p:cNvPr id="29" name="Text 22"/>
          <p:cNvSpPr txBox="1"/>
          <p:nvPr/>
        </p:nvSpPr>
        <p:spPr>
          <a:xfrm>
            <a:off x="3886200" y="305409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Entity and legal</a:t>
            </a:r>
            <a:endParaRPr lang="en-US" sz="1150" dirty="0"/>
          </a:p>
        </p:txBody>
      </p:sp>
      <p:sp>
        <p:nvSpPr>
          <p:cNvPr id="30" name="Text 23"/>
          <p:cNvSpPr txBox="1"/>
          <p:nvPr/>
        </p:nvSpPr>
        <p:spPr>
          <a:xfrm>
            <a:off x="3429000" y="349300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EnergyWave Inc. is not yet formed; related-party structure must be clean. Mitigation: K&amp;L Gates engaged; full disclosure in the data room.</a:t>
            </a:r>
            <a:endParaRPr lang="en-US" sz="900" dirty="0"/>
          </a:p>
        </p:txBody>
      </p:sp>
      <p:sp>
        <p:nvSpPr>
          <p:cNvPr id="31" name="Shape 24"/>
          <p:cNvSpPr/>
          <p:nvPr/>
        </p:nvSpPr>
        <p:spPr>
          <a:xfrm>
            <a:off x="6035040" y="2926080"/>
            <a:ext cx="2651760" cy="1554480"/>
          </a:xfrm>
          <a:prstGeom prst="roundRect">
            <a:avLst>
              <a:gd name="adj" fmla="val 4706"/>
            </a:avLst>
          </a:prstGeom>
          <a:solidFill>
            <a:srgbClr val="121A2E"/>
          </a:solidFill>
          <a:ln w="9525">
            <a:solidFill>
              <a:srgbClr val="223049"/>
            </a:solidFill>
            <a:prstDash val="solid"/>
          </a:ln>
          <a:effectLst>
            <a:outerShdw sx="100000" sy="100000" kx="0" ky="0" algn="bl" rotWithShape="0" blurRad="76200" dist="25400" dir="5400000">
              <a:srgbClr val="000000">
                <a:alpha val="35000"/>
              </a:srgbClr>
            </a:outerShdw>
          </a:effectLst>
        </p:spPr>
      </p:sp>
      <p:sp>
        <p:nvSpPr>
          <p:cNvPr id="32" name="Shape 25"/>
          <p:cNvSpPr/>
          <p:nvPr/>
        </p:nvSpPr>
        <p:spPr>
          <a:xfrm>
            <a:off x="6199632" y="3072384"/>
            <a:ext cx="365760" cy="365760"/>
          </a:xfrm>
          <a:prstGeom prst="ellipse">
            <a:avLst/>
          </a:prstGeom>
          <a:solidFill>
            <a:srgbClr val="163338"/>
          </a:solidFill>
          <a:ln w="6350">
            <a:solidFill>
              <a:srgbClr val="5EEAD4"/>
            </a:solidFill>
            <a:prstDash val="solid"/>
          </a:ln>
        </p:spPr>
      </p:sp>
      <p:pic>
        <p:nvPicPr>
          <p:cNvPr id="33" name="Image 5" descr="preencoded.png">    </p:cNvPr>
          <p:cNvPicPr>
            <a:picLocks noChangeAspect="1"/>
          </p:cNvPicPr>
          <p:nvPr/>
        </p:nvPicPr>
        <p:blipFill>
          <a:blip r:embed="rId6"/>
          <a:stretch>
            <a:fillRect/>
          </a:stretch>
        </p:blipFill>
        <p:spPr>
          <a:xfrm>
            <a:off x="6287414" y="3160166"/>
            <a:ext cx="190195" cy="190195"/>
          </a:xfrm>
          <a:prstGeom prst="rect">
            <a:avLst/>
          </a:prstGeom>
        </p:spPr>
      </p:pic>
      <p:sp>
        <p:nvSpPr>
          <p:cNvPr id="34" name="Text 26"/>
          <p:cNvSpPr txBox="1"/>
          <p:nvPr/>
        </p:nvSpPr>
        <p:spPr>
          <a:xfrm>
            <a:off x="6675120" y="3054096"/>
            <a:ext cx="1874520" cy="402336"/>
          </a:xfrm>
          <a:prstGeom prst="rect">
            <a:avLst/>
          </a:prstGeom>
          <a:noFill/>
          <a:ln/>
        </p:spPr>
        <p:txBody>
          <a:bodyPr wrap="square" lIns="0" tIns="0" rIns="0" bIns="0" rtlCol="0" anchor="ctr"/>
          <a:lstStyle/>
          <a:p>
            <a:pPr indent="0" marL="0">
              <a:buNone/>
            </a:pPr>
            <a:r>
              <a:rPr lang="en-US" sz="1150" b="1" dirty="0">
                <a:solidFill>
                  <a:srgbClr val="E6EDF5"/>
                </a:solidFill>
                <a:latin typeface="Calibri" pitchFamily="34" charset="0"/>
                <a:ea typeface="Calibri" pitchFamily="34" charset="-122"/>
                <a:cs typeface="Calibri" pitchFamily="34" charset="-120"/>
              </a:rPr>
              <a:t>Capital</a:t>
            </a:r>
            <a:endParaRPr lang="en-US" sz="1150" dirty="0"/>
          </a:p>
        </p:txBody>
      </p:sp>
      <p:sp>
        <p:nvSpPr>
          <p:cNvPr id="35" name="Text 27"/>
          <p:cNvSpPr txBox="1"/>
          <p:nvPr/>
        </p:nvSpPr>
        <p:spPr>
          <a:xfrm>
            <a:off x="6217920" y="3493008"/>
            <a:ext cx="2286000" cy="850392"/>
          </a:xfrm>
          <a:prstGeom prst="rect">
            <a:avLst/>
          </a:prstGeom>
          <a:noFill/>
          <a:ln/>
        </p:spPr>
        <p:txBody>
          <a:bodyPr wrap="square" lIns="0" tIns="0" rIns="0" bIns="0" rtlCol="0" anchor="t"/>
          <a:lstStyle/>
          <a:p>
            <a:pPr indent="0" marL="0">
              <a:spcAft>
                <a:spcPts val="400"/>
              </a:spcAft>
              <a:buNone/>
            </a:pPr>
            <a:r>
              <a:rPr lang="en-US" sz="900" dirty="0">
                <a:solidFill>
                  <a:srgbClr val="C9D6E3"/>
                </a:solidFill>
                <a:latin typeface="Calibri" pitchFamily="34" charset="0"/>
                <a:ea typeface="Calibri" pitchFamily="34" charset="-122"/>
                <a:cs typeface="Calibri" pitchFamily="34" charset="-120"/>
              </a:rPr>
              <a:t>A three-year program with a high probability of an early stop. Mitigation: the tranche structure returns unspent escrow on a kill.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228600"/>
          </a:xfrm>
          <a:prstGeom prst="rect">
            <a:avLst/>
          </a:prstGeom>
          <a:noFill/>
          <a:ln/>
        </p:spPr>
        <p:txBody>
          <a:bodyPr wrap="square" lIns="0" tIns="0" rIns="0" bIns="0" rtlCol="0" anchor="ctr"/>
          <a:lstStyle/>
          <a:p>
            <a:pPr indent="0" marL="0">
              <a:buNone/>
            </a:pPr>
            <a:r>
              <a:rPr lang="en-US" sz="950" spc="300" kern="0" dirty="0">
                <a:solidFill>
                  <a:srgbClr val="5EEAD4"/>
                </a:solidFill>
                <a:latin typeface="Calibri" pitchFamily="34" charset="0"/>
                <a:ea typeface="Calibri" pitchFamily="34" charset="-122"/>
                <a:cs typeface="Calibri" pitchFamily="34" charset="-120"/>
              </a:rPr>
              <a:t>NEXT STEPS</a:t>
            </a:r>
            <a:endParaRPr lang="en-US" sz="950" dirty="0"/>
          </a:p>
        </p:txBody>
      </p:sp>
      <p:sp>
        <p:nvSpPr>
          <p:cNvPr id="3" name="Text 1"/>
          <p:cNvSpPr txBox="1"/>
          <p:nvPr/>
        </p:nvSpPr>
        <p:spPr>
          <a:xfrm>
            <a:off x="640080" y="685800"/>
            <a:ext cx="7863840" cy="548640"/>
          </a:xfrm>
          <a:prstGeom prst="rect">
            <a:avLst/>
          </a:prstGeom>
          <a:noFill/>
          <a:ln/>
        </p:spPr>
        <p:txBody>
          <a:bodyPr wrap="square" lIns="0" tIns="0" rIns="0" bIns="0" rtlCol="0" anchor="ctr"/>
          <a:lstStyle/>
          <a:p>
            <a:pPr indent="0" marL="0">
              <a:buNone/>
            </a:pPr>
            <a:r>
              <a:rPr lang="en-US" sz="2800" b="1" dirty="0">
                <a:solidFill>
                  <a:srgbClr val="E6EDF5"/>
                </a:solidFill>
                <a:latin typeface="Cambria" pitchFamily="34" charset="0"/>
                <a:ea typeface="Cambria" pitchFamily="34" charset="-122"/>
                <a:cs typeface="Cambria" pitchFamily="34" charset="-120"/>
              </a:rPr>
              <a:t>What happens after this meeting</a:t>
            </a:r>
            <a:endParaRPr lang="en-US" sz="2800" dirty="0"/>
          </a:p>
        </p:txBody>
      </p:sp>
      <p:sp>
        <p:nvSpPr>
          <p:cNvPr id="4" name="Shape 2"/>
          <p:cNvSpPr/>
          <p:nvPr/>
        </p:nvSpPr>
        <p:spPr>
          <a:xfrm>
            <a:off x="640080" y="1417320"/>
            <a:ext cx="384048" cy="384048"/>
          </a:xfrm>
          <a:prstGeom prst="ellipse">
            <a:avLst/>
          </a:prstGeom>
          <a:solidFill>
            <a:srgbClr val="163338"/>
          </a:solidFill>
          <a:ln w="6350">
            <a:solidFill>
              <a:srgbClr val="5EEAD4"/>
            </a:solidFill>
            <a:prstDash val="solid"/>
          </a:ln>
        </p:spPr>
      </p:sp>
      <p:pic>
        <p:nvPicPr>
          <p:cNvPr id="5" name="Image 0" descr="preencoded.png">    </p:cNvPr>
          <p:cNvPicPr>
            <a:picLocks noChangeAspect="1"/>
          </p:cNvPicPr>
          <p:nvPr/>
        </p:nvPicPr>
        <p:blipFill>
          <a:blip r:embed="rId2"/>
          <a:stretch>
            <a:fillRect/>
          </a:stretch>
        </p:blipFill>
        <p:spPr>
          <a:xfrm>
            <a:off x="732252" y="1509492"/>
            <a:ext cx="199705" cy="199705"/>
          </a:xfrm>
          <a:prstGeom prst="rect">
            <a:avLst/>
          </a:prstGeom>
        </p:spPr>
      </p:pic>
      <p:sp>
        <p:nvSpPr>
          <p:cNvPr id="6" name="Text 3"/>
          <p:cNvSpPr txBox="1"/>
          <p:nvPr/>
        </p:nvSpPr>
        <p:spPr>
          <a:xfrm>
            <a:off x="1188720" y="1417320"/>
            <a:ext cx="4754880" cy="54864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Data room  </a:t>
            </a:r>
            <a:pPr indent="0" marL="0">
              <a:buNone/>
            </a:pPr>
            <a:r>
              <a:rPr lang="en-US" sz="1050" dirty="0">
                <a:solidFill>
                  <a:srgbClr val="C9D6E3"/>
                </a:solidFill>
                <a:latin typeface="Calibri" pitchFamily="34" charset="0"/>
                <a:ea typeface="Calibri" pitchFamily="34" charset="-122"/>
                <a:cs typeface="Calibri" pitchFamily="34" charset="-120"/>
              </a:rPr>
              <a:t>Financial workbook, DD tracker, entity structure and a document checklist marked exists / pending / blocked on counsel.</a:t>
            </a:r>
            <a:endParaRPr lang="en-US" sz="1050" dirty="0"/>
          </a:p>
        </p:txBody>
      </p:sp>
      <p:sp>
        <p:nvSpPr>
          <p:cNvPr id="7" name="Shape 4"/>
          <p:cNvSpPr/>
          <p:nvPr/>
        </p:nvSpPr>
        <p:spPr>
          <a:xfrm>
            <a:off x="640080" y="2075688"/>
            <a:ext cx="384048" cy="384048"/>
          </a:xfrm>
          <a:prstGeom prst="ellipse">
            <a:avLst/>
          </a:prstGeom>
          <a:solidFill>
            <a:srgbClr val="163338"/>
          </a:solidFill>
          <a:ln w="6350">
            <a:solidFill>
              <a:srgbClr val="5EEAD4"/>
            </a:solidFill>
            <a:prstDash val="solid"/>
          </a:ln>
        </p:spPr>
      </p:sp>
      <p:pic>
        <p:nvPicPr>
          <p:cNvPr id="8" name="Image 1" descr="preencoded.png">    </p:cNvPr>
          <p:cNvPicPr>
            <a:picLocks noChangeAspect="1"/>
          </p:cNvPicPr>
          <p:nvPr/>
        </p:nvPicPr>
        <p:blipFill>
          <a:blip r:embed="rId3"/>
          <a:stretch>
            <a:fillRect/>
          </a:stretch>
        </p:blipFill>
        <p:spPr>
          <a:xfrm>
            <a:off x="732252" y="2167860"/>
            <a:ext cx="199705" cy="199705"/>
          </a:xfrm>
          <a:prstGeom prst="rect">
            <a:avLst/>
          </a:prstGeom>
        </p:spPr>
      </p:pic>
      <p:sp>
        <p:nvSpPr>
          <p:cNvPr id="9" name="Text 5"/>
          <p:cNvSpPr txBox="1"/>
          <p:nvPr/>
        </p:nvSpPr>
        <p:spPr>
          <a:xfrm>
            <a:off x="1188720" y="2075688"/>
            <a:ext cx="4754880" cy="54864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Technical prospectus  </a:t>
            </a:r>
            <a:pPr indent="0" marL="0">
              <a:buNone/>
            </a:pPr>
            <a:r>
              <a:rPr lang="en-US" sz="1050" dirty="0">
                <a:solidFill>
                  <a:srgbClr val="C9D6E3"/>
                </a:solidFill>
                <a:latin typeface="Calibri" pitchFamily="34" charset="0"/>
                <a:ea typeface="Calibri" pitchFamily="34" charset="-122"/>
                <a:cs typeface="Calibri" pitchFamily="34" charset="-120"/>
              </a:rPr>
              <a:t>The hypothesis, the Gate 1 experiment, the measurement protocol and error budget, and the full reference list.</a:t>
            </a:r>
            <a:endParaRPr lang="en-US" sz="1050" dirty="0"/>
          </a:p>
        </p:txBody>
      </p:sp>
      <p:sp>
        <p:nvSpPr>
          <p:cNvPr id="10" name="Shape 6"/>
          <p:cNvSpPr/>
          <p:nvPr/>
        </p:nvSpPr>
        <p:spPr>
          <a:xfrm>
            <a:off x="640080" y="2734056"/>
            <a:ext cx="384048" cy="384048"/>
          </a:xfrm>
          <a:prstGeom prst="ellipse">
            <a:avLst/>
          </a:prstGeom>
          <a:solidFill>
            <a:srgbClr val="163338"/>
          </a:solidFill>
          <a:ln w="6350">
            <a:solidFill>
              <a:srgbClr val="5EEAD4"/>
            </a:solidFill>
            <a:prstDash val="solid"/>
          </a:ln>
        </p:spPr>
      </p:sp>
      <p:pic>
        <p:nvPicPr>
          <p:cNvPr id="11" name="Image 2" descr="preencoded.png">    </p:cNvPr>
          <p:cNvPicPr>
            <a:picLocks noChangeAspect="1"/>
          </p:cNvPicPr>
          <p:nvPr/>
        </p:nvPicPr>
        <p:blipFill>
          <a:blip r:embed="rId4"/>
          <a:stretch>
            <a:fillRect/>
          </a:stretch>
        </p:blipFill>
        <p:spPr>
          <a:xfrm>
            <a:off x="732252" y="2826228"/>
            <a:ext cx="199705" cy="199705"/>
          </a:xfrm>
          <a:prstGeom prst="rect">
            <a:avLst/>
          </a:prstGeom>
        </p:spPr>
      </p:pic>
      <p:sp>
        <p:nvSpPr>
          <p:cNvPr id="12" name="Text 7"/>
          <p:cNvSpPr txBox="1"/>
          <p:nvPr/>
        </p:nvSpPr>
        <p:spPr>
          <a:xfrm>
            <a:off x="1188720" y="2734056"/>
            <a:ext cx="4754880" cy="54864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Advisory board candidates  </a:t>
            </a:r>
            <a:pPr indent="0" marL="0">
              <a:buNone/>
            </a:pPr>
            <a:r>
              <a:rPr lang="en-US" sz="1050" dirty="0">
                <a:solidFill>
                  <a:srgbClr val="C9D6E3"/>
                </a:solidFill>
                <a:latin typeface="Calibri" pitchFamily="34" charset="0"/>
                <a:ea typeface="Calibri" pitchFamily="34" charset="-122"/>
                <a:cs typeface="Calibri" pitchFamily="34" charset="-120"/>
              </a:rPr>
              <a:t>Meet the physicists who will hold the veto.</a:t>
            </a:r>
            <a:endParaRPr lang="en-US" sz="1050" dirty="0"/>
          </a:p>
        </p:txBody>
      </p:sp>
      <p:sp>
        <p:nvSpPr>
          <p:cNvPr id="13" name="Shape 8"/>
          <p:cNvSpPr/>
          <p:nvPr/>
        </p:nvSpPr>
        <p:spPr>
          <a:xfrm>
            <a:off x="640080" y="3392424"/>
            <a:ext cx="384048" cy="384048"/>
          </a:xfrm>
          <a:prstGeom prst="ellipse">
            <a:avLst/>
          </a:prstGeom>
          <a:solidFill>
            <a:srgbClr val="163338"/>
          </a:solidFill>
          <a:ln w="6350">
            <a:solidFill>
              <a:srgbClr val="5EEAD4"/>
            </a:solidFill>
            <a:prstDash val="solid"/>
          </a:ln>
        </p:spPr>
      </p:sp>
      <p:pic>
        <p:nvPicPr>
          <p:cNvPr id="14" name="Image 3" descr="preencoded.png">    </p:cNvPr>
          <p:cNvPicPr>
            <a:picLocks noChangeAspect="1"/>
          </p:cNvPicPr>
          <p:nvPr/>
        </p:nvPicPr>
        <p:blipFill>
          <a:blip r:embed="rId5"/>
          <a:stretch>
            <a:fillRect/>
          </a:stretch>
        </p:blipFill>
        <p:spPr>
          <a:xfrm>
            <a:off x="732252" y="3484596"/>
            <a:ext cx="199705" cy="199705"/>
          </a:xfrm>
          <a:prstGeom prst="rect">
            <a:avLst/>
          </a:prstGeom>
        </p:spPr>
      </p:pic>
      <p:sp>
        <p:nvSpPr>
          <p:cNvPr id="15" name="Text 9"/>
          <p:cNvSpPr txBox="1"/>
          <p:nvPr/>
        </p:nvSpPr>
        <p:spPr>
          <a:xfrm>
            <a:off x="1188720" y="3392424"/>
            <a:ext cx="4754880" cy="548640"/>
          </a:xfrm>
          <a:prstGeom prst="rect">
            <a:avLst/>
          </a:prstGeom>
          <a:noFill/>
          <a:ln/>
        </p:spPr>
        <p:txBody>
          <a:bodyPr wrap="square" lIns="0" tIns="0" rIns="0" bIns="0" rtlCol="0" anchor="ctr"/>
          <a:lstStyle/>
          <a:p>
            <a:pPr indent="0" marL="0">
              <a:buNone/>
            </a:pPr>
            <a:r>
              <a:rPr lang="en-US" sz="1050" b="1" dirty="0">
                <a:solidFill>
                  <a:srgbClr val="E6EDF5"/>
                </a:solidFill>
                <a:latin typeface="Calibri" pitchFamily="34" charset="0"/>
                <a:ea typeface="Calibri" pitchFamily="34" charset="-122"/>
                <a:cs typeface="Calibri" pitchFamily="34" charset="-120"/>
              </a:rPr>
              <a:t>Terms  </a:t>
            </a:r>
            <a:pPr indent="0" marL="0">
              <a:buNone/>
            </a:pPr>
            <a:r>
              <a:rPr lang="en-US" sz="1050" dirty="0">
                <a:solidFill>
                  <a:srgbClr val="C9D6E3"/>
                </a:solidFill>
                <a:latin typeface="Calibri" pitchFamily="34" charset="0"/>
                <a:ea typeface="Calibri" pitchFamily="34" charset="-122"/>
                <a:cs typeface="Calibri" pitchFamily="34" charset="-120"/>
              </a:rPr>
              <a:t>Discussed only through counsel, under definitive documentation.</a:t>
            </a:r>
            <a:endParaRPr lang="en-US" sz="1050" dirty="0"/>
          </a:p>
        </p:txBody>
      </p:sp>
      <p:sp>
        <p:nvSpPr>
          <p:cNvPr id="16" name="Text 10"/>
          <p:cNvSpPr txBox="1"/>
          <p:nvPr/>
        </p:nvSpPr>
        <p:spPr>
          <a:xfrm>
            <a:off x="6217920" y="1417320"/>
            <a:ext cx="2468880" cy="274320"/>
          </a:xfrm>
          <a:prstGeom prst="rect">
            <a:avLst/>
          </a:prstGeom>
          <a:noFill/>
          <a:ln/>
        </p:spPr>
        <p:txBody>
          <a:bodyPr wrap="square" lIns="0" tIns="0" rIns="0" bIns="0" rtlCol="0" anchor="ctr"/>
          <a:lstStyle/>
          <a:p>
            <a:pPr indent="0" marL="0">
              <a:buNone/>
            </a:pPr>
            <a:r>
              <a:rPr lang="en-US" sz="1200" b="1" dirty="0">
                <a:solidFill>
                  <a:srgbClr val="E6EDF5"/>
                </a:solidFill>
                <a:latin typeface="Calibri" pitchFamily="34" charset="0"/>
                <a:ea typeface="Calibri" pitchFamily="34" charset="-122"/>
                <a:cs typeface="Calibri" pitchFamily="34" charset="-120"/>
              </a:rPr>
              <a:t>Ian McLean, Founder</a:t>
            </a:r>
            <a:endParaRPr lang="en-US" sz="1200" dirty="0"/>
          </a:p>
        </p:txBody>
      </p:sp>
      <p:sp>
        <p:nvSpPr>
          <p:cNvPr id="17" name="Text 11"/>
          <p:cNvSpPr txBox="1"/>
          <p:nvPr/>
        </p:nvSpPr>
        <p:spPr>
          <a:xfrm>
            <a:off x="6217920" y="1719072"/>
            <a:ext cx="2468880" cy="82296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energywave.ai</a:t>
            </a:r>
            <a:endParaRPr lang="en-US" sz="1050" dirty="0"/>
          </a:p>
          <a:p>
            <a:pPr indent="0" marL="0">
              <a:buNone/>
            </a:pPr>
            <a:r>
              <a:rPr lang="en-US" sz="1050" dirty="0">
                <a:solidFill>
                  <a:srgbClr val="C9D6E3"/>
                </a:solidFill>
                <a:latin typeface="Calibri" pitchFamily="34" charset="0"/>
                <a:ea typeface="Calibri" pitchFamily="34" charset="-122"/>
                <a:cs typeface="Calibri" pitchFamily="34" charset="-120"/>
              </a:rPr>
              <a:t>ian@energywave.ai</a:t>
            </a:r>
            <a:endParaRPr lang="en-US" sz="1050" dirty="0"/>
          </a:p>
          <a:p>
            <a:pPr indent="0" marL="0">
              <a:buNone/>
            </a:pPr>
            <a:r>
              <a:rPr lang="en-US" sz="1050" dirty="0">
                <a:solidFill>
                  <a:srgbClr val="C9D6E3"/>
                </a:solidFill>
                <a:latin typeface="Calibri" pitchFamily="34" charset="0"/>
                <a:ea typeface="Calibri" pitchFamily="34" charset="-122"/>
                <a:cs typeface="Calibri" pitchFamily="34" charset="-120"/>
              </a:rPr>
              <a:t>Newport Beach, California</a:t>
            </a:r>
            <a:endParaRPr lang="en-US" sz="1050" dirty="0"/>
          </a:p>
        </p:txBody>
      </p:sp>
      <p:sp>
        <p:nvSpPr>
          <p:cNvPr id="18" name="Text 12"/>
          <p:cNvSpPr txBox="1"/>
          <p:nvPr/>
        </p:nvSpPr>
        <p:spPr>
          <a:xfrm>
            <a:off x="640080" y="4069080"/>
            <a:ext cx="7863840" cy="868680"/>
          </a:xfrm>
          <a:prstGeom prst="rect">
            <a:avLst/>
          </a:prstGeom>
          <a:noFill/>
          <a:ln/>
        </p:spPr>
        <p:txBody>
          <a:bodyPr wrap="square" lIns="0" tIns="0" rIns="0" bIns="0" rtlCol="0" anchor="t"/>
          <a:lstStyle/>
          <a:p>
            <a:pPr indent="0" marL="0">
              <a:buNone/>
            </a:pPr>
            <a:r>
              <a:rPr lang="en-US" sz="750" dirty="0">
                <a:solidFill>
                  <a:srgbClr val="8FA3B8"/>
                </a:solidFill>
                <a:latin typeface="Calibri" pitchFamily="34" charset="0"/>
                <a:ea typeface="Calibri" pitchFamily="34" charset="-122"/>
                <a:cs typeface="Calibri" pitchFamily="34" charset="-120"/>
              </a:rPr>
              <a:t>This document is provided for informational and discussion purposes only. It does not constitute an offer to sell or a solicitation of an offer to buy any securities, and no such offer or solicitation will be made except pursuant to definitive documentation and in compliance with applicable securities laws. EnergyWave has not demonstrated, and makes no claim regarding, the performance of any energy-generation device. Statements about future plans are forward-looking and subject to substantial scientific, technical and financial uncertainty; the most likely outcome of the research program is a null result. Figures marked as placeholders are illustrative and subject to change. Draft — subject to review by counsel (K&amp;L Gates).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EnergyWave — Investor overview (draft)</dc:title>
  <dc:subject>PptxGenJS Presentation</dc:subject>
  <dc:creator>EnergyWave</dc:creator>
  <cp:lastModifiedBy>EnergyWave</cp:lastModifiedBy>
  <cp:revision>1</cp:revision>
  <dcterms:created xsi:type="dcterms:W3CDTF">2026-09-07T18:02:23Z</dcterms:created>
  <dcterms:modified xsi:type="dcterms:W3CDTF">2026-09-07T18:02:23Z</dcterms:modified>
</cp:coreProperties>
</file>